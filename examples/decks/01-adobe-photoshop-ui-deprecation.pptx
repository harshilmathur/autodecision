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891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51C2C"/>
                </a:solidFill>
                <a:latin typeface="Georgia"/>
              </a:rPr>
              <a:t>Autodecision</a:t>
            </a:r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40080"/>
            <a:ext cx="5852160" cy="5852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19456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Georgia"/>
              </a:rPr>
              <a:t>Should Adobe deprecate
Photoshop's UI within 3 years?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5532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Decision Brief — possibility map and recommendation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8978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7378"/>
                </a:solidFill>
                <a:latin typeface="Helvetica"/>
              </a:rPr>
              <a:t>April 2026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GENERATED BY AUTODECISION — possibility map with synthesized recommendation, not a single-shot answer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Table of contents</a:t>
            </a:r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02920" y="109728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Section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1234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Slides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160020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Recommendation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783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How we explored this decision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0" y="2286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4 – 7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What the council found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788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8 – 13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Path forward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3291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14 – 15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Appendix — Sources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94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16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1/  RECOMMENDATION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aggressive deprecation path survives &lt;15% of plausible scenarios; ship a segmented dual-SKU instead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2011680"/>
            <a:ext cx="11186160" cy="1188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73152" cy="1188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1063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Do NOT deprecate the Photoshop UI. Ship Photoshop Pro (UI + 10-year LTS) alongside Photoshop Agentic (Firefly AI Assistant native), with binding public reversal triggers.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CONFIDENCE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3675888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3749040"/>
            <a:ext cx="360680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HIGH on do-not-deprecate · MEDIUM-HIGH on segmented+LTS structure · MEDIUM on board willingness to publish reversal triggers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2600" y="338328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DEPENDS ON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292600" y="3675888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2600" y="3749040"/>
            <a:ext cx="360680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Board willing to publish binding reversal triggers · LTS commitment credible to pros · Segments are separable · Adobe execution amortizes dual-SKU R&amp;D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2280" y="338328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MONITOR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082280" y="3675888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82280" y="3749040"/>
            <a:ext cx="360680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Firefly AI Assistant beta NPS · Acrobat UI backlash trajectory · OpenAI/Anthropic creative product launches · Figma post-IPO M&amp;A · Enterprise ELA renewal cohort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83717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PRE-MORTEM</a:t>
            </a:r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02920" y="5129784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5202936"/>
            <a:ext cx="360680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h6 without binding triggers (P=0.30) · Foundation model plateau (P=0.25) · Pro community rejects LTS as marketing-only (P=0.20) · Internal resourcing split degrades both SKUs (P=0.55)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2600" y="483717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DEEPEST DISAGREEMENT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4292600" y="5129784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92600" y="5202936"/>
            <a:ext cx="360680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Optimist: 55% first-mover platform lock compounds. Pessimist: 75% reversal-impossible franchise damage. Disagreement IS the data.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82280" y="483717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REVIEW TRIGGER</a:t>
            </a:r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8082280" y="5129784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82280" y="5202936"/>
            <a:ext cx="360680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Firefly AI Assistant beta NPS &lt;40 · OpenAI/Anthropic ships native creative · Adobe board refuses public reversal triggers · Q2 FY26 Digital Media growth &lt;10%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(full mode, 2 iterations, council 5/5 endorsement on h6) · [G15], [C3:council], [C4:pessimist], [C17:council]</a:t>
            </a:r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2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How we explored
this decision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A 5-persona council, 6 competing hypotheses, two iterations to convergence, and 12 adversarial stress scenarios — what survived?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2.1/  HOW WE ANALYZED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analysis explored 6 hypotheses across 2 iterations of a 5-persona council, stress-tested by 12 adversarial scenarios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11186160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5 personas spawned as separate subagents — Optimist, Pessimist, Competitor, Regulator, Customer — each with independent context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6 hypotheses generated, ranging from aggressive deprecation (h1) to additive Adobe-actual strategy (h3) to the synthesis winner (h6 segmented dual-SKU + LTS + binding reversal triggers)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2 iterations — convergence reached at iteration 2 with 78% assumption stability, 1 productive contradiction remaining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Adversary phase generated 12 stress scenarios across worst-cases, black swans, and irrational actors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Sensitivity analysis on 10 key assumptions — 3 high-sensitivity, 5 medium, 2 low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Real-time anchor: Adobe announced Firefly AI Assistant as additive on April 15, 2026 [G15] — three days before this analysis. The announced strategy is h3, the recommendation upgrades to h6.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Convergence Log; engine-protocol.md</a:t>
            </a:r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2.2/  HYPOTHESES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Six hypotheses surfaced; only h6 survived 5/5 council endorsement and adversarial stress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#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Hypothesis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749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Status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Key assumptions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24231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5146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Aggressive deprecation wins (3-year UI sunset)</a:t>
            </a:r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74920" y="256032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5146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Helvetica"/>
              </a:rPr>
              <a:t>Conditional · joint P 12-20%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Agentic is terminal paradigm · 36-month parity · Foundation labs enter creative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175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1752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User revolt destroys franchise</a:t>
            </a:r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4920" y="306324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301752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Risk path of h1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30175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Muscle-memory switching cost real · Narrative damage sticky · Enterprise procurement revolts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502920" y="35204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52044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52044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Hybrid additive dominates (Adobe's actual April 2026 strategy [G15])</a:t>
            </a:r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74920" y="3566160"/>
            <a:ext cx="118872" cy="118872"/>
          </a:xfrm>
          <a:prstGeom prst="ellipse">
            <a:avLst/>
          </a:prstGeom>
          <a:solidFill>
            <a:srgbClr val="05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6088" y="352044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Strongly supported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352044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Both modes coexist · Market rewards additive · AI Assistant quality holds</a:t>
            </a:r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502920" y="40233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02336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4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02336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Competitive window closes by 2028</a:t>
            </a:r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74920" y="406908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6088" y="40233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E7378"/>
                </a:solidFill>
                <a:latin typeface="Helvetica"/>
              </a:rPr>
              <a:t>Conditional on foundation lab entry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43800" y="402336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Foundation labs enter creative · Category narrative matters · Translates to valuation</a:t>
            </a:r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02920" y="452628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452628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5</a:t>
            </a: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52628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Segmentation is the right structure</a:t>
            </a:r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74920" y="457200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76088" y="452628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E7378"/>
                </a:solidFill>
                <a:latin typeface="Helvetica"/>
              </a:rPr>
              <a:t>Conditional on segment separability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43800" y="452628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Segments separable · Dual tier doesn't confuse · Pricing power preserved</a:t>
            </a:r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502920" y="502920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50292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6</a:t>
            </a: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0292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Segmented + 10yr LTS + binding reversal triggers</a:t>
            </a:r>
            <a:endParaRPr/>
          </a:p>
        </p:txBody>
      </p:sp>
      <p:sp>
        <p:nvSpPr>
          <p:cNvPr id="42" name="Oval 41"/>
          <p:cNvSpPr/>
          <p:nvPr/>
        </p:nvSpPr>
        <p:spPr>
          <a:xfrm>
            <a:off x="5074920" y="5074920"/>
            <a:ext cx="118872" cy="118872"/>
          </a:xfrm>
          <a:prstGeom prst="ellipse">
            <a:avLst/>
          </a:prstGeom>
          <a:solidFill>
            <a:srgbClr val="1F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76088" y="50292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44"/>
                </a:solidFill>
                <a:latin typeface="Helvetica"/>
              </a:rPr>
              <a:t>Leading · 5/5 council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43800" y="50292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Dual SKU separable · LTS credible · Reversal triggers enforceable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55321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Hypotheses Explored</a:t>
            </a:r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2.3/  STRATEGIC POSITIONING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Plotted on reversibility × franchise risk, h6 sits in the manageable quadrant; h1 sits where every adversarial scenario amplifies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772400" cy="38469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9" y="2011680"/>
            <a:ext cx="32308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READ</a:t>
            </a:r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458199" y="2322576"/>
            <a:ext cx="3230881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58199" y="2423160"/>
            <a:ext cx="3230881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h1 — Aggressive deprecation — irreversible, catastrophic if wrong (joint P 12-20%)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h2 — User revolt — risk path of h1, same quadrant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h4 — Window-closes — conditional, indeterminate position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h5 — Segmentation — direction right, structure incomplete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h3 — Hybrid additive — Adobe's actual April 2026 strategy [G15]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h6 — Segmented + LTS + binding reversal triggers — captures growth while preserving optionality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Synthesis from Decision Brief — bubble size = council_agreement × probability of dominance</a:t>
            </a:r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3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What the council
found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Where the personas converged, where they diverged, and what the disagreement itself reveals about the decision.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3.1/  EFFECTS 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strongest signals point to franchise risk under aggressive paths and quiet compounding under additive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74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Top 12 effects ranked by council_agreement × probability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color = council agreement (navy = 5/5, fading to pale = 1/5)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Black bracket = persona disagreement range — width is the uncertainty signal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Two of the three highest-agreement effects (5/5) are downside under aggressive paths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h6 effects (last row) emerge in iteration 2 with full council endorsement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Effects Map (top 15 by council_agreement × probability) · [C7:council], [C10:council], [C16:council]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3.2/  COUNCIL DYNAMICS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deepest disagreement — competitive urgency vs franchise preservation — IS the data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STRONGEST: REGULATOR (#1 PEER RANK)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Won on structural depth — EU AI Act obligations, Firefly training-data suit risk, fiduciary / Delaware business judgment rule, ADA Section 508 implications of chat-only UI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Surfaced TWO of the alternatives that synthesized into h6: dual-SKU LTS + binding reversal triggers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Identified h6 as protected under business judgment rule — reversibility insulates the board even if strategy fails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Compliance moat (AI Act + copyright + enterprise DPA) buys 18-24 months regardless of UI strategy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888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DEEPEST DIVIDE: URGENCY VS PRESERVATION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627888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Optimist + Competitor: narrow window, first-mover lock compounds (P=0.55 [C2:optimist])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Pessimist + Regulator + Customer: catastrophic franchise downside under forced transition (P=0.75 [C4:pessimist] reversal impossible)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Disagreement range on foundation_labs_enter_creative: 0.30-0.70 [C3:council] — the disagreement IS the data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Optimist was weakest (#5 peer rank) — joint-probability inflation flagged by 4/4 reviewers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BLIND SPOT caught: 4/5 personas missed agentic inference COGS — ~10-50× per session, material at 41M subs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Council Dynamics · [C2:optimist], [C2:pessimist], [C3:council]</a:t>
            </a:r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3.3/  COUNCIL DEPTH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Regulator scored highest on structural depth and counter-factual rigor; Optimist's narrow ranges drove its #5 peer rank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5943600" cy="4279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2011680"/>
            <a:ext cx="4968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Each persona scored 1-5 across five rigor dimensions, derived from peer-review and critique outputs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Regulator's structural depth surfaced both alternatives that synthesized into h6 — dual-SKU LTS and binding reversal triggers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Optimist's narrow range and weak counter-factual depth flagged in 4/4 reviews — joint-probability inflation pattern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Pessimist + Regulator together cover the full adversarial surface; their alignment on irreversibility risk drove the h6 design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Customer's lower adversarial coverage is structural — the role focuses on adoption value, not threats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Synthesized from Decision Brief — Council Dynamics + Critique outputs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3.4/  ADVERSARIAL PRESSURE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Twelve adversarial scenarios — eight push toward kill-aggressive or segmented; only h6's reversal triggers neutralize all of them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WORST CASES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3545840" cy="0"/>
          </a:xfrm>
          <a:prstGeom prst="line">
            <a:avLst/>
          </a:prstGeom>
          <a:ln w="1905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Foundation model capabilities plateau by 2027 (P=0.25)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Pro community organizes mass migration via plugin APIs (P=0.20)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EU AI Act enforcement hits Firefly mid-transition (P=0.20)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Senior ML talent departs during stock-compression trough (P=0.30)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2308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BLACK SWANS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4323080" y="2377440"/>
            <a:ext cx="3545840" cy="0"/>
          </a:xfrm>
          <a:prstGeom prst="line">
            <a:avLst/>
          </a:prstGeom>
          <a:ln w="1905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308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Apple ships Vision Pro agentic Final Cut + Photos Dec 2027 (P=0.15)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Figma acquires Runway or Midjourney with post-IPO war chest (P=0.15)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CEO Narayen retires mid-transition; successor reverses (P=0.10)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China bans Creative Cloud during trade escalation; $2-3B revenue (P=0.10)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24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  <a:latin typeface="Helvetica"/>
              </a:rPr>
              <a:t>IRRATIONAL ACTORS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143240" y="2377440"/>
            <a:ext cx="3545840" cy="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324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F500 flagship client publicly abandons Adobe; narrative contagion (P=0.15)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Viral 'Adobe killed Photoshop' video from top creator (P=0.20)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Activist investor takes 5% stake demanding reversal during trough (P=0.15)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Board member leaks internal concerns; stock further compresses (P=0.08)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Adversarial Scenarios · [C23:adversary] through [C35:adversary]</a:t>
            </a:r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3.5/  SENSITIVITY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Three high-sensitivity assumptions are load-bearing — if any one fails, aggressive deprecation becomes indefensible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42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length = sensitivity weight × number of effects impacted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Dark-blue bar = HIGH sensitivity, lighter = MEDIUM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All four HIGH-sensitivity assumptions are external — Adobe controls none directly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h6's binding reversal triggers convert assumption-failure from catastrophic to recoverable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If 36-month parity slips (&gt;60% probability per [C1:council]), aggressive deprecation guarantees the partial-agentic awkward state — exactly what h6 is structured to prevent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Key Assumptions · sensitivity per effects-impacted × HIGH/MEDIUM/LOW weight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4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Path forward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Six checkpoints with binding reversal triggers — every gate has a kill criterion before the next commitment.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4.1/  ROADMAP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recommendation maps to a six-checkpoint roadmap with clear kill criteria at each stage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Every checkpoint has a binding reversal trigger; failure at any gate triggers either reversal or extension of LTS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When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2240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Action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Decision point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22402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Kill criteria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Q2 FY26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274320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Firefly AI Assistant beta launches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74320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Beta NPS ≥ 50 from pros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74320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Beta NPS &lt; 30 → reassess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2461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24612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Q3 FY26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324612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Publish Pro LTS commitment + Agentic SKU roadmap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324612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Public commitment with binding reversal triggers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324612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Board refuses to publish → fall back to pure h3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7490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74904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Q4 FY26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374904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Firefly AI Assistant GA across CC apps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37490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GA launches on schedule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374904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Ship slip &gt; 2 quarters → narrative damage risk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42519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425196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FY27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6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Agentic SKU builds; Pro SKU continues UI investment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425196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Agentic ARPU $15-20/mo; Pro maintained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425196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Pro churn &gt; 5% OR Agentic ARPU &lt; $10 → reversal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475488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475488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FY28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5880" y="475488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Foundation lab entry decision point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475488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OpenAI/Anthropic creative products shipped or not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8120" y="475488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378"/>
                </a:solidFill>
                <a:latin typeface="Helvetica"/>
              </a:rPr>
              <a:t>Foundation lab dominant category → accelerate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525780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525780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FY29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25880" y="525780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3-year review point (original deprecation date)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26280" y="525780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Reaffirm LTS; evaluate market shift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18120" y="525780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7A44"/>
                </a:solidFill>
                <a:latin typeface="Helvetica"/>
              </a:rPr>
              <a:t>Pro churn &gt; 8% → reversal; &lt;3% + strong agentic → continue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57607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Appendix A: Decision Timeline · binding reversal triggers per [C17:council]</a:t>
            </a:r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APPENDIX  SOURCES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Selected sources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Tags appear inline throughout the deck — [G#] = ground data, [C#:persona] = council finding, [C#:adversary] = adversarial scenario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Tag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Type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40280" y="22402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Claim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982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Source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6400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G2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10972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2743200"/>
            <a:ext cx="685800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Creative Cloud: 41M paid subs YE 2025; 80M+ freemium MAUs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2743200"/>
            <a:ext cx="265176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prodesigntools.com, qz.com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5326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53264"/>
            <a:ext cx="6400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G3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053264"/>
            <a:ext cx="10972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40280" y="3053264"/>
            <a:ext cx="685800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Adobe Acrobat UI redesign backlash sustained and unresolved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3053264"/>
            <a:ext cx="265176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acrobat.uservoice.com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36332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363328"/>
            <a:ext cx="6400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G15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3363328"/>
            <a:ext cx="10972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0280" y="3363328"/>
            <a:ext cx="685800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Firefly AI Assistant announced April 15 2026 (additive, not replacement)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3363328"/>
            <a:ext cx="265176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blog.adobe.com, news.adobe.com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367339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673392"/>
            <a:ext cx="6400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G17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3673392"/>
            <a:ext cx="10972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40280" y="3673392"/>
            <a:ext cx="685800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Firefly AI Assistant supports third-party models (Anthropic Claude)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98280" y="3673392"/>
            <a:ext cx="265176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appleinsider.com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398345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3983456"/>
            <a:ext cx="6400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C3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3983456"/>
            <a:ext cx="10972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40280" y="3983456"/>
            <a:ext cx="685800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Foundation labs enter creative by 2028 P=0.5 joint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3983456"/>
            <a:ext cx="265176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council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42935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4293520"/>
            <a:ext cx="6400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C4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4293520"/>
            <a:ext cx="10972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40280" y="4293520"/>
            <a:ext cx="685800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Reversal impossible P=0.75 after announcement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98280" y="4293520"/>
            <a:ext cx="265176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pessimist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460358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4603584"/>
            <a:ext cx="6400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C7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43000" y="4603584"/>
            <a:ext cx="10972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40280" y="4603584"/>
            <a:ext cx="685800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Pro churn spike P=0.70 with 18-28% magnitude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98280" y="4603584"/>
            <a:ext cx="265176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council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491364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4913648"/>
            <a:ext cx="6400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C10</a:t>
            </a: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43000" y="4913648"/>
            <a:ext cx="10972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240280" y="4913648"/>
            <a:ext cx="685800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Installed base retained under additive P=0.80</a:t>
            </a: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98280" y="4913648"/>
            <a:ext cx="265176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council</a:t>
            </a:r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502920" y="522371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5223712"/>
            <a:ext cx="6400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C17</a:t>
            </a: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43000" y="5223712"/>
            <a:ext cx="10972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40280" y="5223712"/>
            <a:ext cx="685800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Binding reversal triggers at 8% pro churn</a:t>
            </a: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98280" y="5223712"/>
            <a:ext cx="265176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iter-2 council</a:t>
            </a:r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502920" y="553377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5533776"/>
            <a:ext cx="6400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C23</a:t>
            </a: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43000" y="5533776"/>
            <a:ext cx="10972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Adversary</a:t>
            </a: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40280" y="5533776"/>
            <a:ext cx="685800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Foundation model plateau P=0.25 (worst case)</a:t>
            </a: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98280" y="5533776"/>
            <a:ext cx="265176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adversary</a:t>
            </a:r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502920" y="58438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2920" y="5843840"/>
            <a:ext cx="6400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C32</a:t>
            </a:r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43000" y="5843840"/>
            <a:ext cx="109728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Adversary</a:t>
            </a: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240280" y="5843840"/>
            <a:ext cx="685800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F500 flagship client abandons Adobe P=0.15 (irrational actor)</a:t>
            </a:r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98280" y="5843840"/>
            <a:ext cx="2651760" cy="310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adversary</a:t>
            </a:r>
            <a:endParaRPr/>
          </a:p>
        </p:txBody>
      </p:sp>
      <p:cxnSp>
        <p:nvCxnSpPr>
          <p:cNvPr id="65" name="Connector 64"/>
          <p:cNvCxnSpPr/>
          <p:nvPr/>
        </p:nvCxnSpPr>
        <p:spPr>
          <a:xfrm>
            <a:off x="502920" y="615390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Sources (full list in companion brief markdown)</a:t>
            </a:r>
            <a:endParaRPr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