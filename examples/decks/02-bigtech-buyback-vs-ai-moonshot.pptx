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891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51C2C"/>
                </a:solidFill>
                <a:latin typeface="Georgia"/>
              </a:rPr>
              <a:t>Autodecision</a:t>
            </a:r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40080"/>
            <a:ext cx="5852160" cy="5852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19456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Georgia"/>
              </a:rPr>
              <a:t>$50B buyback vs $50B
AI moonshot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5532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Decision Brief — possibility map and recommendation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8978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7378"/>
                </a:solidFill>
                <a:latin typeface="Helvetica"/>
              </a:rPr>
              <a:t>April 2026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GENERATED BY AUTODECISION — possibility map with synthesized recommendation, not a single-shot answer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Table of contents</a:t>
            </a:r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02920" y="109728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Section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1234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Slides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160020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Recommendation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783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How we explored this decision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0" y="2286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4 – 7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What the council found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788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8 – 13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Path forward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3291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14 – 15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Appendix — Sources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3794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16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1/  RECOMMENDATION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Pure $50B moonshot is dominated; mirror the Microsoft-OpenAI partnership-first structure instead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2011680"/>
            <a:ext cx="11186160" cy="15544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73152" cy="15544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106375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Execute partnership-first structure: $10-15B equity in a frontier AI lab + $30-35B buyback + $5B adjacent moonshot in a vertical the company's distribution actually moats. Mirror the Microsoft-OpenAI playbook ($13B [G18] stake → $150B+ value creation).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CONFIDENCE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4041648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HIGH that pure $50B moonshot is strictly dominated · MEDIUM-HIGH that pure $50B buyback is dominated in 2026 AI-bifurcated regime · MEDIUM on partnership-first executability (gated by lab availability + antitrust)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260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DEPENDS ON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292600" y="4041648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260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Frontier lab accepts minority non-voting equity without exclusivity [C5:council] · Antitrust clears $10-15B stake · AI is a platform shift · Moonshot base rate 70-85% failure holds · Staged deployment kill criteria board-credible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228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MONITOR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082280" y="4041648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8228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Frontier lab partnership announcements by peers · IRA buyback excise tax debate · Meta Reality Labs quarterly burn · Microsoft-OpenAI exclusivity renegotiation · Peer $50B+ moonshots · ML talent attrition · Foundation model benchmarks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PRE-MORTEM</a:t>
            </a:r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502920" y="5312664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Exclusivity locks multi-lab optionality (P=0.40) · Antitrust drag 12-18 months (P=0.30) · Partner lab falls behind in capability race (P=0.20) · Activist forces reversal mid-deployment (P=0.25) · Vertical moonshot slips into meta-trap (P=0.30)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260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DEEPEST DISAGREEMENT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4292600" y="5312664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9260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Optimist: 25% [C2:optimist] AI moonshot platform capture. Pessimist: 5% [C2:pessimist]. Council range 5-25% — partnership-first captures 60-70% of upside without 70-85% [C3:pessimist] downside.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8228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REVIEW TRIGGER</a:t>
            </a:r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8082280" y="5312664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8228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Frontier lab terms include problematic exclusivity · AI platform shift weakens · Activist 13D on big tech · Meta reverses Reality Labs · Microsoft-OpenAI renegotiation · IRA buyback hike passes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(full mode, 2 iterations, council 5/5 endorsement on h6, 12/12 adversarial survival) · [G18], [C5:council], [C9:council], [C10:council]</a:t>
            </a:r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2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How we explored
this decision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A 5-persona council, 6 competing hypotheses, two iterations to convergence, and 12 adversarial stress scenarios — what survived?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2.1/  HOW WE ANALYZED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Two iterations of a 5-persona council and 12 adversarial scenarios converged on partnership-first structure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11186160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5 personas spawned as separate subagents — Optimist, Pessimist, Competitor, Regulator, Customer — each with independent context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6 hypotheses generated, ranging from pure buyback (h1) and pure moonshot (h2) to hybrid split (h5) to the synthesis winner (h6 partnership-first, MSFT-OpenAI mirror)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2 iterations — convergence reached at iteration 2 with 85% assumption stability, 1 productive contradiction remaining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Adversary phase generated 12 stress scenarios across worst-cases, black swans, and irrational actors — h6 survives 12/12 [C10:council]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Sensitivity analysis on 8 key assumptions — 4 high-sensitivity, 3 medium, 1 low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Real-world anchor: Microsoft-OpenAI partnership ($13B [G18] stake → $150B+ value creation) is the proven incumbent AI playbook the recommendation mirrors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Convergence Log; engine-protocol.md</a:t>
            </a:r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2.2/  HYPOTHESES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Six hypotheses surfaced; only h6 (partnership-first) survived 5/5 council and 12/12 adversarial scenarios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#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Hypothesis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7492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Status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Key assumptions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24231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5146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Buyback dominates (pure $50B return)</a:t>
            </a:r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74920" y="256032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25146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E7378"/>
                </a:solidFill>
                <a:latin typeface="Helvetica"/>
              </a:rPr>
              <a:t>Conditional on AI = utility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AI is utility not platform · Market rewards discipline · Mature company can't ship moonshot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175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1752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Moonshot dominates (pure $50B AI bet)</a:t>
            </a:r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4920" y="306324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301752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Helvetica"/>
              </a:rPr>
              <a:t>Conditional · joint P 5-25%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301752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AI is platform shift · Mature company can ship · Incumbent distribution advantage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502920" y="352044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352044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52044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Moonshot meta-trap (Reality Labs pattern)</a:t>
            </a:r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74920" y="356616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76088" y="352044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Helvetica"/>
              </a:rPr>
              <a:t>Risk path of h2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800" y="352044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Reality Labs pattern applies · Org rigidity real · No partnership available</a:t>
            </a:r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502920" y="402336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02336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4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02336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Buyback signals no vision</a:t>
            </a:r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74920" y="406908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6088" y="402336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E7378"/>
                </a:solidFill>
                <a:latin typeface="Helvetica"/>
              </a:rPr>
              <a:t>Conditional on AI bifurcation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43800" y="402336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Market punishes no narrative · AI-era valuation bifurcation · Talent flight</a:t>
            </a:r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02920" y="452628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452628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5</a:t>
            </a: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452628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Hybrid split (buyback + moonshot)</a:t>
            </a:r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74920" y="4572000"/>
            <a:ext cx="118872" cy="118872"/>
          </a:xfrm>
          <a:prstGeom prst="ellipse">
            <a:avLst/>
          </a:prstGeom>
          <a:solidFill>
            <a:srgbClr val="E69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76088" y="452628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69A29"/>
                </a:solidFill>
                <a:latin typeface="Helvetica"/>
              </a:rPr>
              <a:t>Structurally fragile · pleases neither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43800" y="452628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Market accepts hybrid · Split strategy credible · Underfunded moonshot fails same way</a:t>
            </a:r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502920" y="502920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50292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6</a:t>
            </a: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0292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Partnership-first (MSFT-OpenAI mirror)</a:t>
            </a:r>
            <a:endParaRPr/>
          </a:p>
        </p:txBody>
      </p:sp>
      <p:sp>
        <p:nvSpPr>
          <p:cNvPr id="42" name="Oval 41"/>
          <p:cNvSpPr/>
          <p:nvPr/>
        </p:nvSpPr>
        <p:spPr>
          <a:xfrm>
            <a:off x="5074920" y="5074920"/>
            <a:ext cx="118872" cy="118872"/>
          </a:xfrm>
          <a:prstGeom prst="ellipse">
            <a:avLst/>
          </a:prstGeom>
          <a:solidFill>
            <a:srgbClr val="1F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76088" y="50292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F7A44"/>
                </a:solidFill>
                <a:latin typeface="Helvetica"/>
              </a:rPr>
              <a:t>Leading · 5/5 council, 12/12 adversarial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43800" y="50292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Frontier lab accepts partnership · No exclusivity blocks optionality · Antitrust clears minority stake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55321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Hypotheses Explored</a:t>
            </a:r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2.3/  STRATEGIC POSITIONING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Plotted on capital at risk × optionality preserved, h6 captures the AI upside without sitting where Reality Labs failed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772400" cy="38469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199" y="2011680"/>
            <a:ext cx="32308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READ</a:t>
            </a:r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458199" y="2322576"/>
            <a:ext cx="3230881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58199" y="2423160"/>
            <a:ext cx="3230881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h2 — Pure $50B moonshot — Reality Labs pattern, 70-85% base rate failure [C3:pessimist]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h3 — Moonshot meta-trap — risk scenario of h2, organizational rigidity tax 3-5×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h4 — Buyback signals no vision — narrative compression in AI-bifurcated market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h5 — Hybrid split — pleases neither activist faction, underfunds the moonshot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h1 — Pure $50B buyback — mechanical EPS accretion 8-12% [C1:council], capital not at risk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h6 — Partnership-first — $10-15B equity + $30-35B buyback + $5B vertical · captures 30-50% [C9:council] of AI upside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Synthesis from Decision Brief — bubble size = council_agreement × dominant probability of the hypothesis</a:t>
            </a:r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3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What the council
found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Where the personas converged, where they diverged, and what the disagreement itself reveals about the decision.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3.1/  EFFECTS 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mechanical buyback (P=0.85) and the moonshot burn pattern (P=0.65) are the two highest-confidence signals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74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011680"/>
            <a:ext cx="3596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Top 12 effects ranked by council_agreement × probability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Bar color = council agreement (navy = 5/5, fading to pale = 1/5)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Black bracket = persona disagreement range — width is the uncertainty signal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Two of the three highest-agreement effects (5/5) belong to h6 partnership-first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The Reality Labs burn pattern (P=0.65, 5/5) dominates pure-moonshot risk math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Effects Map (top 15 by council_agreement × probability) · [C1:council], [C9:council], [C10:council]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3.2/  COUNCIL DYNAMICS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Optimist's 25% vs Pessimist's 5% on AI-as-platform IS the data — partnership-first dominates either world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541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4AD8"/>
                </a:solidFill>
                <a:latin typeface="Helvetica"/>
              </a:rPr>
              <a:t>STRONGEST: COMPETITOR (#1 PEER RANK)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2377440"/>
            <a:ext cx="541020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14600"/>
            <a:ext cx="5410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Won on second-order competitive dynamics and the Microsoft-OpenAI partnership-first synthesis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Spotted the structural asymmetry: $50B is HALF of frontier capex per hyperscaler [G4] — pure moonshot starts underfunded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Surfaced the Bing counter-example as analog — 20 years of Microsoft distribution couldn't overcome Google's category lock-in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Authored the alt_partnership_first_moonshot_second variant that synthesized into h6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8880" y="2011680"/>
            <a:ext cx="541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BC7"/>
                </a:solidFill>
                <a:latin typeface="Helvetica"/>
              </a:rPr>
              <a:t>KEY DIVIDE: AI PLATFORM SHIFT REALITY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6278880" y="2377440"/>
            <a:ext cx="541020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78880" y="2514600"/>
            <a:ext cx="5410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Optimist: 25% [C2:optimist] AI moonshot category capture probability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Pessimist: 5% [C2:pessimist] AI moonshot category capture probability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Council range 5-25% on the moonshot upside — the disagreement IS the data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Customer was weakest (#5 peer rank) — public-equity decision had more signaling weight than product-side insights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BLIND SPOT: 4/5 personas inflated option-value probabilities on moonshot upside; underfunded-vs-frontier point fixed in h6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Council Dynamics · [C2:optimist], [C2:pessimist], [G4], [G18]</a:t>
            </a:r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3.3/  COUNCIL DEPTH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Competitor topped peer rank on second-order dynamics; Customer's narrow product lens drove its #5 placement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5943600" cy="4279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2011680"/>
            <a:ext cx="4968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Each persona scored 1-5 across five rigor dimensions, derived from peer-review and critique outputs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Competitor's structural depth surfaced the partnership-first alternative that synthesized into h6 — Microsoft-OpenAI mirror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Pessimist's adversarial coverage anchored the Reality Labs precedent and 70-85% [C3:pessimist] base rate failure rate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Regulator's quantitative rigor scored highest on antitrust and IRA tax structural workarounds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Customer's narrow lens (#5 peer rank) is structural — public-equity decisions weight signaling over product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Synthesized from Decision Brief — Council Dynamics + Critique outputs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3.4/  ADVERSARIAL PRESSURE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Twelve adversarial scenarios — h6 survives 12/12; pure moonshot survives only 5/12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4AD8"/>
                </a:solidFill>
                <a:latin typeface="Helvetica"/>
              </a:rPr>
              <a:t>WORST CASES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2377440"/>
            <a:ext cx="3545840" cy="0"/>
          </a:xfrm>
          <a:prstGeom prst="line">
            <a:avLst/>
          </a:prstGeom>
          <a:ln w="1905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Foundation model plateau 2027-2028 (P=0.20)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Activist 13D year 2 forcing reversal (P=0.35)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$30B write-off year 4 (P=0.30)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Key CTO departure post-announcement (P=0.25)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2308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BC7"/>
                </a:solidFill>
                <a:latin typeface="Helvetica"/>
              </a:rPr>
              <a:t>BLACK SWANS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4323080" y="2377440"/>
            <a:ext cx="3545840" cy="0"/>
          </a:xfrm>
          <a:prstGeom prst="line">
            <a:avLst/>
          </a:prstGeom>
          <a:ln w="1905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308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OpenAI/Anthropic IPO at $3T valuation (P=0.15)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AI liability suit hits moonshot mid-development (P=0.18)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Stock market correction compresses all multiples (P=0.25)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CEO health crisis mid-transition (P=0.08)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24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  <a:latin typeface="Helvetica"/>
              </a:rPr>
              <a:t>IRRATIONAL ACTORS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143240" y="2377440"/>
            <a:ext cx="3545840" cy="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4324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Activist hostile bid for the company (P=0.10)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Competitor launches $100B buyback + AI partnership same week (P=0.12)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Key AI researcher publicly trashes moonshot on social (P=0.22)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Trump admin AI import tariff (P=0.30)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Adversarial Scenarios · [C23:adversary] through [C34:adversary]</a:t>
            </a:r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3.5/  SENSITIVITY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Four high-sensitivity assumptions are load-bearing — if any one fails, partnership-first becomes the staged-hybrid fallback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532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011680"/>
            <a:ext cx="3596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Bar length = sensitivity weight × number of effects impacted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Dark-blue bar = HIGH sensitivity, lighter = MEDIUM, palest = LOW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Three of four HIGH-sensitivity assumptions are external — gated by frontier labs and regulators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If frontier lab partnership is unavailable (all labs exclusive), h6 collapses to staged-hybrid fallback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Antitrust review timing alone can drag 12-18 months [C40:council] — pre-filing with regulators before announcement is the mitigation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Key Assumptions · sensitivity per effects-impacted × HIGH/MEDIUM/LOW weight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4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Path forward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Seven checkpoints from Month 0 board approval to Month 60 review — every gate has a kill criterion before the next commitment.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4.1/  ROADMAP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recommendation maps to a seven-checkpoint roadmap with binding kill criteria at every gate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10512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Helvetica"/>
              </a:rPr>
              <a:t>Failure at any gate triggers either reversion to staged-hybrid fallback or capital redeployment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When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2240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Action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0" y="2240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Decision point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22402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Kill criteria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517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43200"/>
            <a:ext cx="914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0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2743200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Board approval on partnership-first structure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743200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Framework approved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2743200"/>
            <a:ext cx="38404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Board rejection → staged-hybrid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23044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230444"/>
            <a:ext cx="914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1-3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3230444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Explore frontier lab partnership terms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3230444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LOI signed with at least one lab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3230444"/>
            <a:ext cx="38404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No lab accepts → staged-hybrid</a:t>
            </a:r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02920" y="371768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717688"/>
            <a:ext cx="914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3-6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3717688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Antitrust pre-filing + structure optimization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3717688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Regulator signals approval path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9560" y="3717688"/>
            <a:ext cx="38404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Regulator block → minority passive structure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420493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4204932"/>
            <a:ext cx="914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6-9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17320" y="4204932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Close partnership + announce buyback program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4204932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Official announcements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9560" y="4204932"/>
            <a:ext cx="38404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Partnership close slips &gt; 9 months → staged-hybrid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2920" y="469217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4692176"/>
            <a:ext cx="914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9-24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17320" y="4692176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Execute $30-35B buyback; vertical moonshot tranche 1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09160" y="4692176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Tranche 1 milestones met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09560" y="4692176"/>
            <a:ext cx="38404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7378"/>
                </a:solidFill>
                <a:latin typeface="Helvetica"/>
              </a:rPr>
              <a:t>Vertical team can't be hired → skip moonshot</a:t>
            </a:r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02920" y="51794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5179420"/>
            <a:ext cx="914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24-36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17320" y="5179420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Vertical moonshot tranche 2 ($2.5B) gated on milestones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09160" y="5179420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ARR &gt; $500M [C1:council]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09560" y="5179420"/>
            <a:ext cx="38404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ARR &lt; $100M → halt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566666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5666664"/>
            <a:ext cx="914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36-60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417320" y="5666664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Evaluate partnership renewal; moonshot expansion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09160" y="5666664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5-year review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09560" y="5666664"/>
            <a:ext cx="384048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7A44"/>
                </a:solidFill>
                <a:latin typeface="Helvetica"/>
              </a:rPr>
              <a:t>Partner falls behind; moonshot fails → redeploy capital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615390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Appendix A: Decision Timeline · binding kill criteria per [C38:council]</a:t>
            </a:r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APPENDIX  SOURCES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Selected sources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10512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Helvetica"/>
              </a:rPr>
              <a:t>Tags appear inline throughout the deck — [G#] = ground data, [C#:persona] = council finding, [C#:adversary] = adversarial scenario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Tag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Type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40280" y="22402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Claim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982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Source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517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43200"/>
            <a:ext cx="6400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G4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10972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2743200"/>
            <a:ext cx="685800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2026 hyperscaler capex: AMZN $200B, GOOG $175-185B, META $115-135B, MSFT $120B+, ORCL $50B; collective $660-690B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2743200"/>
            <a:ext cx="2651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techcrunch.com, futurumgroup.com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2742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27426"/>
            <a:ext cx="6400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G7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027426"/>
            <a:ext cx="10972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40280" y="3027426"/>
            <a:ext cx="685800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OpenAI $20B ARR end 2025 (3× YoY); pure-play AI revenue is fraction of infra spend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3027426"/>
            <a:ext cx="2651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techcrunch.com</a:t>
            </a:r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02920" y="331165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311652"/>
            <a:ext cx="6400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G8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3311652"/>
            <a:ext cx="10972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0280" y="3311652"/>
            <a:ext cx="685800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Meta Reality Labs: $69-77B cumulative loss; $17B 2025 burn; $1.08B Q4 revenue; 10-15yr break-even (cautionary)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3311652"/>
            <a:ext cx="2651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Meta 10-K, CNBC, Reuters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359587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3595878"/>
            <a:ext cx="6400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G12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3595878"/>
            <a:ext cx="10972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40280" y="3595878"/>
            <a:ext cx="685800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Apple $110B buyback May 2024 → stock +7% despite -4% sales, -10% iPhone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98280" y="3595878"/>
            <a:ext cx="2651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fool.com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2920" y="388010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3880104"/>
            <a:ext cx="6400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G18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3880104"/>
            <a:ext cx="10972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40280" y="3880104"/>
            <a:ext cx="685800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Microsoft-OpenAI: $13B stake + exclusivity → $150B+ value creation (the partnership-first proof point)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3880104"/>
            <a:ext cx="2651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techcrunch.com</a:t>
            </a:r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02920" y="416433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4164330"/>
            <a:ext cx="6400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C2:opt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4164330"/>
            <a:ext cx="10972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40280" y="4164330"/>
            <a:ext cx="685800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Moonshot platform capture P=0.25 in optimist view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98280" y="4164330"/>
            <a:ext cx="2651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optimist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444855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4448556"/>
            <a:ext cx="6400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C2:pess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43000" y="4448556"/>
            <a:ext cx="10972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40280" y="4448556"/>
            <a:ext cx="685800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Moonshot platform capture P=0.05 in pessimist view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98280" y="4448556"/>
            <a:ext cx="2651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pessimist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473278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4732782"/>
            <a:ext cx="6400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C3:pess</a:t>
            </a: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43000" y="4732782"/>
            <a:ext cx="10972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240280" y="4732782"/>
            <a:ext cx="685800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Incumbent moonshot base rate failure 70-85%</a:t>
            </a: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98280" y="4732782"/>
            <a:ext cx="2651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pessimist</a:t>
            </a:r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502920" y="501700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5017008"/>
            <a:ext cx="6400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C5</a:t>
            </a: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43000" y="5017008"/>
            <a:ext cx="10972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40280" y="5017008"/>
            <a:ext cx="685800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Frontier lab partnership availability P=0.5 (range 0.3-0.65) — binary precondition for h6</a:t>
            </a: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98280" y="5017008"/>
            <a:ext cx="2651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council</a:t>
            </a:r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502920" y="530123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5301234"/>
            <a:ext cx="6400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C9</a:t>
            </a: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43000" y="5301234"/>
            <a:ext cx="10972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40280" y="5301234"/>
            <a:ext cx="685800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Partnership captures 30-50% of AI upside without organizational rigidity burden</a:t>
            </a:r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98280" y="5301234"/>
            <a:ext cx="2651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iter-2 council</a:t>
            </a:r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502920" y="558546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2920" y="5585460"/>
            <a:ext cx="6400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C10</a:t>
            </a:r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43000" y="5585460"/>
            <a:ext cx="10972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240280" y="5585460"/>
            <a:ext cx="685800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h6 adversary-resistance: survives 12/12 stress scenarios</a:t>
            </a:r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98280" y="5585460"/>
            <a:ext cx="2651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iter-2 council</a:t>
            </a:r>
            <a:endParaRPr/>
          </a:p>
        </p:txBody>
      </p:sp>
      <p:cxnSp>
        <p:nvCxnSpPr>
          <p:cNvPr id="65" name="Connector 64"/>
          <p:cNvCxnSpPr/>
          <p:nvPr/>
        </p:nvCxnSpPr>
        <p:spPr>
          <a:xfrm>
            <a:off x="502920" y="586968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02920" y="5869686"/>
            <a:ext cx="6400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C24</a:t>
            </a:r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143000" y="5869686"/>
            <a:ext cx="109728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Adversary</a:t>
            </a:r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240280" y="5869686"/>
            <a:ext cx="685800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Activist 13D year 2 forcing reversal P=0.35 (worst case)</a:t>
            </a:r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98280" y="5869686"/>
            <a:ext cx="2651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adversary</a:t>
            </a:r>
            <a:endParaRPr/>
          </a:p>
        </p:txBody>
      </p:sp>
      <p:cxnSp>
        <p:nvCxnSpPr>
          <p:cNvPr id="70" name="Connector 69"/>
          <p:cNvCxnSpPr/>
          <p:nvPr/>
        </p:nvCxnSpPr>
        <p:spPr>
          <a:xfrm>
            <a:off x="502920" y="615391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Sources (full list in companion brief markdown)</a:t>
            </a:r>
            <a:endParaRPr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