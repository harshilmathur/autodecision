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1A1A"/>
                </a:solidFill>
                <a:latin typeface="Georgia"/>
              </a:rPr>
              <a:t>Should attendance go optional now that AI tutoring beats lecture?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Decision Brief — possibility map and recommendation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7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council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 – 13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Path forward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14 – 15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94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Universal optional attendance is strictly dominated; ship a 3-year department pilot with mandatory first-year and dual-track compliance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554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Do NOT make attendance universally optional. Run a 3-year opt-in pilot in 1-2 departments + mandatory first-year residential + dual-track F-1/Title IV compliance with required in-person seminars + faculty senate and union as co-design partners + Harvard RCT-style AI-hybrid teaching model.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04164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HIGH that universal optional is dominated · MEDIUM-HIGH that the phased-structured path is executable · MEDIUM on regulatory structuring viability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04164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Required in-person seminars satisfy F-1 SEVP and Title IV RSI · Faculty union accepts co-design · Pilot data credible after 3 years · Mandatory first-year preserves first-gen retention · Harvard RCT replicates at institution scale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04164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DOE guidance on RSI · SEVP guidance on in-person seminar components · Faculty union calendar · Pilot cohort year-1 outcomes · First-gen retention vs control · Donor sentiment quarterly · ChatGPT-6 capability benchmarks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31266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Faculty strikes mid-semester (P=0.15) · Pilot inconclusive from selection bias (P=0.35) · F-1 structured compliance fails legal review (P=0.30) · First-gen dropout despite first-year (P=0.20) · Mid-tier positioning fails (P=0.30)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DEEPEST DISAGREEMENT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31266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Optimist: 60% Harvard RCT replicates at institution scale [C1:optimist]. Pessimist: 25% [C1:pessimist]. Range 25-60% on whether AI-hybrid pedagogy holds across 30K students. Disagreement IS the data.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REVIEW TRIGGER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31266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DOE issues negative RSI guidance · SEVP clarifies one-online-course rule strictly · Peer institution announces similar pilot · Pilot year-1 shows negative equity · Faculty union files grievance · ChatGPT-6 obsoletes current AI-hybrid design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(full mode, 2 iterations, 5/5 council endorsement on h6) · [G1], [C3:regulator], [C4:regulator], [C13:iter2council]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A 5-persona council, 6 competing hypotheses, two iterations to convergence, 12 adversarial stress scenarios — what survived?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analysis explored 6 hypotheses across 2 iterations of a 5-persona council, stress-tested by 12 adversarial scenarios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personas spawned as separate subagents — Optimist, Pessimist, Competitor, Regulator, Customer — each with independent context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6 hypotheses generated, ranging from universal optional (h1) to phased-structured pilot (h6 — promoted in iteration 2 as the synthesis winner)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2 iterations — convergence reached at iteration 2 with 84% [C1:council] assumption stability and 1 productive contradiction remaining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Adversary phase generated 12 stress scenarios across 4 worst-cases, 4 black swans, and 4 irrational actors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Sensitivity analysis on 8 key assumptions — 4 high-sensitivity, 4 medium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Real-world anchor: Harvard 2025 RCT [G1] showed AI-tutoring effect size 0.73-1.3 SD; the recommendation operationalizes a Harvard-style AI-hybrid teaching model inside a structured pilot.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Convergence Log; engine-protocol.md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Six hypotheses surfaced; only h6 (phased + structured) survived 5/5 council endorsement and adversarial stress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Key assumptions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Optional attendance improves outcomes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Conditional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AI tutoring outperforms · Students self-direct · Faculty adapts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Attendance collapse degrades social product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Real for elite tier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Peer network IS real product · Tuition premium for network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Faculty revolt / union path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Risk if unilateral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Union contracts strict · Faculty identity load-bearing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Enrollment bifurcation (mid-tier vulnerable)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Real structure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Elite resists · Middle squeezed · Online MBA precedent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De facto already optional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Lecture-only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Revealed preference matches policy · 50-70% [G6] skip routinely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50292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NEW: Phased + structured pilot with safeguards</a:t>
            </a:r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74920" y="507492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50292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4"/>
                </a:solidFill>
                <a:latin typeface="Helvetica"/>
              </a:rPr>
              <a:t>Leading · 5/5 council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0292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Pilot bounds risk · Regulatory structuring viable · Faculty partnership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32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Explored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2.3/  STRATEGIC POSITIONING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Plotted on reversibility × regulatory exposure, h6 sits in the manageable quadrant; h1 sits where every adversarial scenario amplifies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772400" cy="3848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9" y="2011680"/>
            <a:ext cx="32308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READ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199" y="2322576"/>
            <a:ext cx="3230881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58199" y="2423160"/>
            <a:ext cx="3230881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h1 — Universal optional — irreversible policy + Title IV/F-1 catastrophe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 — Social product collapse — risk path of h1, same quadrant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h3 — Faculty revolt — triggered by unilateral change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h4 — Bifurcation — structural, mid-tier vulnerable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h5 — Already optional — true for lectures, not labs/seminars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h6 — Phased + structured pilot — preserves optionality, defuses 8/12 adversarial scenarios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Synthesis from Decision Brief — bubble size = council_agreement × probability of dominance</a:t>
            </a:r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3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What the council
found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Where the personas converged, where they diverged, and what the disagreement itself reveals about the decision.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strongest signals point to regulatory catastrophe under universal-optional and structural antifragility under the phased pilot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council_agreement × probability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council agreement (navy = 5/5, fading to pale = 1/5)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persona disagreement range — width is the uncertainty signal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Two highest-agreement effects (5/5) are h6 structural protections — the pilot bounds risk and mandatory first-year preserves equity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Regulator's F-1 SEVP finding (1/5, P=0.85) — single-persona but existential; drove h6 dual-track compliance design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Effects Map (top 12 by council_agreement × probability) · [C3:regulator], [C9:council], [C13:iter2council]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3.2/  COUNCIL DYNAMICS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deepest disagreement — Harvard RCT replicability — IS the data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STRONGEST: REGULATOR (#1 PEER RANK)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Won on specific regulatory mechanisms — F-1 SEVP one-online-course rule (P=0.85 [C3:regulator]); Title IV RSI reclassification ($50-300M/yr [C4:regulator] aid at risk); FERPA AI-vendor DPA; accreditor substantive-change trigger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Each finding is potentially existential — universal optional is self-enforcing collapse without structured workaround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Surfaced the dual-track compliance filing + required in-person seminar components that became h6's regulatory engine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h6 protected by structuring: regulatory exposure shifts from catastrophic to bounded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88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DEEPEST DIVIDE: HARVARD RCT REPLICABILITY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7888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Optimist: 60% [C1:optimist] AI-hybrid replicates at institution scale (Harvard RCT [G1] effect size 0.7-1.3 SD)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Pessimist + Customer: 25% [C1:pessimist] — N=194 lab study won't generalize across 30K students; self-direction heterogeneity bimodal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Range 25-60% on h1 conditional outcome — disagreement IS the data, not noise to average away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Optimist weakest (#5 peer rank) — overweighted Harvard sample, underweighted self-direction variance flagged by Customer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BLIND SPOT caught: equity. Optional attendance is REGRESSIVE inside one tuition tier — high-achievers gain, first-gen lose, no price reduction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· [C1:optimist], [C1:pessimist], [C2:customer]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3.3/  COUNCIL DEPTH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Regulator scored highest on structural depth and counter-factual rigor; Optimist's narrow ranges drove its #5 peer rank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94360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011680"/>
            <a:ext cx="4968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Each persona scored 1-5 across five rigor dimensions, derived from peer-review and critique outputs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Regulator's structural depth surfaced both regulatory mechanisms that synthesized into h6 — dual-track compliance and required in-person seminars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Customer caught the equity blind spot — first-gen dropout amplification under universal optional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Optimist's narrow ranges and weak counter-factual depth flagged by 4/4 reviewers — Harvard-RCT generalization optimism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Pessimist + Regulator together cover the full adversarial surface; their alignment on regulatory irreversibility drove h6's safeguards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Synthesized from Decision Brief — Council Dynamics + Critique outputs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3.4/  ADVERSARIAL PRESSURE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Twelve adversarial scenarios — h6's structured design defuses 8 of them; 4 remain (foundation model, Ivy preempt, campus event, ED admin)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WORST CASES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3545840" cy="0"/>
          </a:xfrm>
          <a:prstGeom prst="line">
            <a:avLst/>
          </a:prstGeom>
          <a:ln w="1905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Title IV RSI reclassifies as correspondence; $50-300M/yr aid lost (P=0.40)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F-1 SEVP mass violation; 15-25% international revenue drop (P=0.45)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First-gen cohort 30%+ dropout year 1 — equity disaster + Title VI (P=0.35)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Accreditor show-cause letter; focused review; reputational damage (P=0.25)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308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BLACK SWANS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23080" y="2377440"/>
            <a:ext cx="3545840" cy="0"/>
          </a:xfrm>
          <a:prstGeom prst="line">
            <a:avLst/>
          </a:prstGeom>
          <a:ln w="1905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308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ChatGPT-6 dramatically better — lecture obsolete, accelerates transition (P=0.30)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Ivy goes optional first; mid-tier first-mover narrative destroyed (P=0.08)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Campus shooting / major event requires in-person community (P=0.10)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ED admin change loosens Title IV; regulatory pressure removed (P=0.35)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24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Helvetica"/>
              </a:rPr>
              <a:t>IRRATIONAL ACTORS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43240" y="2377440"/>
            <a:ext cx="3545840" cy="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324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Student influencer (5M followers) attacks policy; applications drop (P=0.25)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Sports alum boosters cut $10M [C34:council] donations (P=0.20)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Faculty union strikes mid-semester; operations chaos (P=0.15)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State legislature passes 'must require in-person' law (P=0.15)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Adversarial Scenarios · [C29:council] through [C36:council]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3.5/  SENSITIVITY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Four high-sensitivity assumptions are load-bearing — if any fails, the universal-optional path becomes indefensible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42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length = sensitivity weight × number of effects impacted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Dark-blue bar = HIGH sensitivity, lighter = MEDIUM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Three of four HIGH-sensitivity assumptions are external regulatory interpretations — the university controls none directly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h6's dual-track filing converts 'F-1 SEVP enforced' from catastrophic to bounded: the structure pre-files in-person components that satisfy the rule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If 'required in-person seminars satisfy SEVP+RSI' interpretation fails on legal review (P=0.30), h6's structural workaround fails — pilot must be paused, not the policy reversed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Key Assumptions · sensitivity per effects-impacted × HIGH/MEDIUM/LOW weight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Path forward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Seven gates with kill criteria — every commitment is bounded by faculty, regulator, and pilot data.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4.1/  ROADMAP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recommendation maps to a seven-gate roadmap with explicit kill criteria at every stage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Every gate has a binding kill criterion; failure at any gate triggers either pause, redesign, or full rollback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When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Action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Decision point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Kill criteria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Q1 2026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743200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Faculty senate briefing + union engagement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Senate accepts pilot design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743200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Senate rejects → pause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23044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30444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Q2 2026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230444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Substantive change filing + dual-track compliance design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230444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Accreditor approves path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3230444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Accreditor blocks → redesign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71768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717688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Q3 2026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3717688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SEVP pre-filing + DOE consultation on RSI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717688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Structure clears regulatory review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3717688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Regulators block → abandon pilot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420493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4204932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Q4 2026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4204932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Pilot launch in 1-2 departments; mandatory first-year intact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4204932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Opt-in pilot enrolls 300-500 students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4204932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Enrollment &lt;150 → insufficient power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69217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692176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2027-28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4692176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Annual outcome reporting: outcomes, retention, equity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4692176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Year-2 data shows positive indicators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4692176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Major negative trend → halt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51794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5179420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Q4 2028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5880" y="5179420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3-year pilot review with external advisory board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80" y="5179420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Outcomes support institution rollout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5179420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Pilot fails → end pilot, maintain current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566666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666664"/>
            <a:ext cx="82296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2029+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25880" y="5666664"/>
            <a:ext cx="320040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Phased institution-wide rollout if pilot succeeds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5666664"/>
            <a:ext cx="329184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Board + senate + union approval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5666664"/>
            <a:ext cx="3931920" cy="48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7A44"/>
                </a:solidFill>
                <a:latin typeface="Helvetica"/>
              </a:rPr>
              <a:t>First-gen retention drops &gt;5% → rollback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615390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Appendix A: Decision Timeline · phased gates per [C13:iter2council], [C14:iter2council]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data, [C#:persona] = council finding, [C#:adversary] = adversarial scenario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2240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72600" y="2240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2743200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Harvard 2025 RCT: AI tutoring effect size 0.73-1.3 SD vs active learning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743200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nature.com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0556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05562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G3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3005562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3005562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Human-AI hybrid &gt; AI-only &gt; classroom-only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3005562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phys.org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26792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267924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G6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57400" y="3267924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3267924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Post-COVID absence rates 73-83% in some courses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3267924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timeshighereducation.com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53028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530286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G10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57400" y="3530286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71800" y="3530286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Tuition: public $10K/$26K, private $37K, elite $80K total cost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3530286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research.com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379264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3792648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G15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3792648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71800" y="3792648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43% students used ChatGPT; 89% for homework; 8/10 used GenAI 2025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72600" y="3792648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nerdynav.com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05501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055010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G21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57400" y="4055010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71800" y="4055010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Minerva: 100% online + active learning + rotating cohort; elite alt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72600" y="4055010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general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31737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317372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C1:optimist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057400" y="4317372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71800" y="4317372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AI-hybrid replicates at scale P=0.60 (vs Pessimist 0.25)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72600" y="4317372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optimist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457973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4579734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C2:customer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57400" y="4579734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71800" y="4579734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Self-direction heterogeneity bimodal P=0.70 — bimodal failure mode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72600" y="4579734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customer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484209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842096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C3:regulator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057400" y="4842096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71800" y="4842096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F-1 SEVP one-online-course violation P=0.85; $30-150M international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72600" y="4842096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regulator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10445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104458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C4:regulator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57400" y="5104458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71800" y="5104458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Title IV RSI reclassification; $50-300M/yr federal aid at risk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72600" y="5104458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regulator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53668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5366820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C13:iter2council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057400" y="5366820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71800" y="5366820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H6 pilot bounds risk P=0.75 (5/5 council)</a:t>
            </a: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72600" y="5366820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council</a:t>
            </a:r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502920" y="562918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5629182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C14:iter2council</a:t>
            </a: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057400" y="5629182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971800" y="5629182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H6 mandatory first-year preserves equity P=0.70 (5/5 council)</a:t>
            </a: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72600" y="5629182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council</a:t>
            </a:r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502920" y="589154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2920" y="5891544"/>
            <a:ext cx="155448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C15:iter2council</a:t>
            </a: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057400" y="5891544"/>
            <a:ext cx="9144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71800" y="5891544"/>
            <a:ext cx="640080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H6 adversary-resistance — defuses 8/12 adversarial scenarios</a:t>
            </a: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72600" y="5891544"/>
            <a:ext cx="2377440" cy="262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council</a:t>
            </a:r>
            <a:endParaRPr/>
          </a:p>
        </p:txBody>
      </p:sp>
      <p:cxnSp>
        <p:nvCxnSpPr>
          <p:cNvPr id="75" name="Connector 74"/>
          <p:cNvCxnSpPr/>
          <p:nvPr/>
        </p:nvCxnSpPr>
        <p:spPr>
          <a:xfrm>
            <a:off x="502920" y="615390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Sources (full list in companion brief markdown)</a:t>
            </a:r>
            <a:endParaRPr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