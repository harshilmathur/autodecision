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38912"/>
            <a:ext cx="329184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11480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51C2C"/>
                </a:solidFill>
                <a:latin typeface="Georgia"/>
              </a:rPr>
              <a:t>Autodecision</a:t>
            </a:r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640080"/>
            <a:ext cx="5852160" cy="5852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2194560"/>
            <a:ext cx="530352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1A1A1A"/>
                </a:solidFill>
                <a:latin typeface="Georgia"/>
              </a:rPr>
              <a:t>Replace 1Y associates with Claude + senior review?</a:t>
            </a: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553212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Helvetica"/>
              </a:rPr>
              <a:t>Decision Brief — possibility map and recommendation</a:t>
            </a: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589788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E7378"/>
                </a:solidFill>
                <a:latin typeface="Helvetica"/>
              </a:rPr>
              <a:t>April 2026</a:t>
            </a: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GENERATED BY AUTODECISION — possibility map with synthesized recommendation, not a single-shot answer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50292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Georgia"/>
              </a:rPr>
              <a:t>Table of contents</a:t>
            </a:r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502920" y="1097280"/>
            <a:ext cx="11186160" cy="0"/>
          </a:xfrm>
          <a:prstGeom prst="line">
            <a:avLst/>
          </a:prstGeom>
          <a:ln w="6350">
            <a:solidFill>
              <a:srgbClr val="4A66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2344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Section</a:t>
            </a: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0" y="12344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Slides</a:t>
            </a:r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502920" y="1600200"/>
            <a:ext cx="11186160" cy="0"/>
          </a:xfrm>
          <a:prstGeom prst="line">
            <a:avLst/>
          </a:prstGeom>
          <a:ln w="6350">
            <a:solidFill>
              <a:srgbClr val="4A66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17830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Recommendation</a:t>
            </a: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0" y="178308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3</a:t>
            </a: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How we explored this decision</a:t>
            </a: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0" y="228600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4 – 7</a:t>
            </a: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78892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What the council found</a:t>
            </a: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0" y="278892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8 – 13</a:t>
            </a: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329184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Path forward</a:t>
            </a: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0" y="329184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14 – 15</a:t>
            </a: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3794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Appendix — Sources</a:t>
            </a: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0" y="379476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16</a:t>
            </a: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9CA9B5"/>
                </a:solidFill>
                <a:latin typeface="Helvetica"/>
              </a:rPr>
              <a:t>Autodecision     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4AD8"/>
                </a:solidFill>
                <a:latin typeface="Helvetica"/>
              </a:rPr>
              <a:t>1/  RECOMMENDATION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6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Georgia"/>
              </a:rPr>
              <a:t>Full replacement is dominated; run a wrapped 18-month pilot with kill criteria, anchor clients, and Utah sandbox cover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1737360"/>
            <a:ext cx="1118616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02920" y="2011680"/>
            <a:ext cx="11186160" cy="155448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2011680"/>
            <a:ext cx="73152" cy="155448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212848"/>
            <a:ext cx="106375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eorgia"/>
              </a:rPr>
              <a:t>Do NOT eliminate the 1Y class. Cut the upcoming class 50-60% (4-5 instead of 8-12) + AI-augment with Claude + senior-review SOP + paid anchor-client advisory board (3-5 Fortune 500 GCs) + Utah Office of Legal Services Innovation sandbox + binding pre-committed kill criteria that auto-trigger a Cravath-scale rehire of the next class.</a:t>
            </a: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3749040"/>
            <a:ext cx="360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54AD8"/>
                </a:solidFill>
                <a:latin typeface="Helvetica"/>
              </a:rPr>
              <a:t>CONFIDENCE</a:t>
            </a:r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502920" y="4041648"/>
            <a:ext cx="3606800" cy="0"/>
          </a:xfrm>
          <a:prstGeom prst="line">
            <a:avLst/>
          </a:prstGeom>
          <a:ln w="15240">
            <a:solidFill>
              <a:srgbClr val="05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4114800"/>
            <a:ext cx="360680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Helvetica"/>
              </a:rPr>
              <a:t>MEDIUM-HIGH · converged at iteration 2 with unanimous rank-1 across pessimist, customer, regulator · regulator classifies CONDITIONALLY CLEAN</a:t>
            </a: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2600" y="3749040"/>
            <a:ext cx="360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196F3"/>
                </a:solidFill>
                <a:latin typeface="Helvetica"/>
              </a:rPr>
              <a:t>DEPENDS ON</a:t>
            </a:r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4292600" y="4041648"/>
            <a:ext cx="3606800" cy="0"/>
          </a:xfrm>
          <a:prstGeom prst="line">
            <a:avLst/>
          </a:prstGeom>
          <a:ln w="15240">
            <a:solidFill>
              <a:srgbClr val="2196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292600" y="4114800"/>
            <a:ext cx="360680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Helvetica"/>
              </a:rPr>
              <a:t>Partners honor kill criteria when triggered [C2:assumption] · Anchor GCs accept paid advisory-board structure · Utah sandbox admits firm · Malpractice carrier non-opposition · Claude substitutability ~40% holds [C1:assumption]</a:t>
            </a: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82280" y="3749040"/>
            <a:ext cx="360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89BC7"/>
                </a:solidFill>
                <a:latin typeface="Helvetica"/>
              </a:rPr>
              <a:t>MONITOR</a:t>
            </a:r>
            <a:endParaRPr/>
          </a:p>
        </p:txBody>
      </p:sp>
      <p:cxnSp>
        <p:nvCxnSpPr>
          <p:cNvPr id="15" name="Connector 14"/>
          <p:cNvCxnSpPr/>
          <p:nvPr/>
        </p:nvCxnSpPr>
        <p:spPr>
          <a:xfrm>
            <a:off x="8082280" y="4041648"/>
            <a:ext cx="3606800" cy="0"/>
          </a:xfrm>
          <a:prstGeom prst="line">
            <a:avLst/>
          </a:prstGeom>
          <a:ln w="15240">
            <a:solidFill>
              <a:srgbClr val="E89B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082280" y="4114800"/>
            <a:ext cx="360680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Helvetica"/>
              </a:rPr>
              <a:t>Monthly: Claude substitutability audit · senior-review throughput · top-performer attrition · client complaint rate · Quarterly: OCI yield · summer-associate acceptance · Vault/Chambers commentary · peer firm AI ethics opinions</a:t>
            </a: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5020056"/>
            <a:ext cx="360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196F3"/>
                </a:solidFill>
                <a:latin typeface="Helvetica"/>
              </a:rPr>
              <a:t>PRE-MORTEM</a:t>
            </a:r>
            <a:endParaRPr/>
          </a:p>
        </p:txBody>
      </p:sp>
      <p:cxnSp>
        <p:nvCxnSpPr>
          <p:cNvPr id="18" name="Connector 17"/>
          <p:cNvCxnSpPr/>
          <p:nvPr/>
        </p:nvCxnSpPr>
        <p:spPr>
          <a:xfrm>
            <a:off x="502920" y="5312664"/>
            <a:ext cx="3606800" cy="0"/>
          </a:xfrm>
          <a:prstGeom prst="line">
            <a:avLst/>
          </a:prstGeom>
          <a:ln w="15240">
            <a:solidFill>
              <a:srgbClr val="2196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02920" y="5385816"/>
            <a:ext cx="360680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Helvetica"/>
              </a:rPr>
              <a:t>Partners treat kill criteria as aspirational (P=high) · Anchor co-design stalls past 6 months (P=0.35) · Hallucination incident in pilot year 1 (P=0.30) · Top performers defect within 6 months (P=0.45)</a:t>
            </a: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92600" y="5020056"/>
            <a:ext cx="360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54AD8"/>
                </a:solidFill>
                <a:latin typeface="Helvetica"/>
              </a:rPr>
              <a:t>DEEPEST DISAGREEMENT</a:t>
            </a:r>
            <a:endParaRPr/>
          </a:p>
        </p:txBody>
      </p:sp>
      <p:cxnSp>
        <p:nvCxnSpPr>
          <p:cNvPr id="21" name="Connector 20"/>
          <p:cNvCxnSpPr/>
          <p:nvPr/>
        </p:nvCxnSpPr>
        <p:spPr>
          <a:xfrm>
            <a:off x="4292600" y="5312664"/>
            <a:ext cx="3606800" cy="0"/>
          </a:xfrm>
          <a:prstGeom prst="line">
            <a:avLst/>
          </a:prstGeom>
          <a:ln w="15240">
            <a:solidFill>
              <a:srgbClr val="05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292600" y="5385816"/>
            <a:ext cx="360680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Helvetica"/>
              </a:rPr>
              <a:t>Regulator: H2 status quo wins on legal-cleanness (0.85 vs h6 0.75). Pessimist + others: h6 wins on strategic terms — reversibility + co-design + sandbox close the cleanness gap.</a:t>
            </a: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82280" y="5020056"/>
            <a:ext cx="360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89BC7"/>
                </a:solidFill>
                <a:latin typeface="Helvetica"/>
              </a:rPr>
              <a:t>REVIEW TRIGGER</a:t>
            </a:r>
            <a:endParaRPr/>
          </a:p>
        </p:txBody>
      </p:sp>
      <p:cxnSp>
        <p:nvCxnSpPr>
          <p:cNvPr id="24" name="Connector 23"/>
          <p:cNvCxnSpPr/>
          <p:nvPr/>
        </p:nvCxnSpPr>
        <p:spPr>
          <a:xfrm>
            <a:off x="8082280" y="5312664"/>
            <a:ext cx="3606800" cy="0"/>
          </a:xfrm>
          <a:prstGeom prst="line">
            <a:avLst/>
          </a:prstGeom>
          <a:ln w="15240">
            <a:solidFill>
              <a:srgbClr val="E89B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082280" y="5385816"/>
            <a:ext cx="360680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Helvetica"/>
              </a:rPr>
              <a:t>Re-run at month 6 (co-design outcome) · month 12 (substitutability data) · month 18 (kill criteria) · ABA revises Opinion 512 · State bar imposes AI-associate restrictions · Cravath-scale base moves &gt;10%</a:t>
            </a:r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Source: Decision Brief (full mode, 2 iterations, unanimous iter-2 rank-1 on h6) · [G1], [G3], [C1:assumption], [C2:assumption]</a:t>
            </a:r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6528816"/>
            <a:ext cx="164592" cy="16459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378"/>
                </a:solidFill>
                <a:latin typeface="Helvetica"/>
              </a:rPr>
              <a:t>Autodecision     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50292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196F3"/>
                </a:solidFill>
                <a:latin typeface="Helvetica"/>
              </a:rPr>
              <a:t>PART 2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33172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FFFFF"/>
                </a:solidFill>
                <a:latin typeface="Georgia"/>
              </a:rPr>
              <a:t>How we explored
this decision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3931920"/>
            <a:ext cx="7315200" cy="0"/>
          </a:xfrm>
          <a:prstGeom prst="line">
            <a:avLst/>
          </a:prstGeom>
          <a:ln w="12700">
            <a:solidFill>
              <a:srgbClr val="4A66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411480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B8C4D0"/>
                </a:solidFill>
                <a:latin typeface="Helvetica"/>
              </a:rPr>
              <a:t>A 5-persona council, 6 competing hypotheses, two iterations to convergence, 6 adversarial stress scenarios — what survived?</a:t>
            </a: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9CA9B5"/>
                </a:solidFill>
                <a:latin typeface="Helvetica"/>
              </a:rPr>
              <a:t>Autodecision     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4AD8"/>
                </a:solidFill>
                <a:latin typeface="Helvetica"/>
              </a:rPr>
              <a:t>2.1/  HOW WE ANALYZED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6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Georgia"/>
              </a:rPr>
              <a:t>The analysis explored 6 hypotheses across 2 iterations of a 5-persona council, stress-tested by 6 adversarial scenarios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1737360"/>
            <a:ext cx="1118616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2011680"/>
            <a:ext cx="11186160" cy="43708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200">
                <a:solidFill>
                  <a:srgbClr val="054AD8"/>
                </a:solidFill>
                <a:latin typeface="Helvetica"/>
              </a:rPr>
              <a:t>▪  </a:t>
            </a:r>
            <a:r>
              <a:rPr sz="1200">
                <a:solidFill>
                  <a:srgbClr val="1A1A1A"/>
                </a:solidFill>
                <a:latin typeface="Helvetica"/>
              </a:rPr>
              <a:t>5 personas spawned as separate subagents — Optimist, Pessimist, Competitor, Regulator, Customer Advocate — each with independent context</a:t>
            </a:r>
            <a:endParaRPr/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200">
                <a:solidFill>
                  <a:srgbClr val="054AD8"/>
                </a:solidFill>
                <a:latin typeface="Helvetica"/>
              </a:rPr>
              <a:t>▪  </a:t>
            </a:r>
            <a:r>
              <a:rPr sz="1200">
                <a:solidFill>
                  <a:srgbClr val="1A1A1A"/>
                </a:solidFill>
                <a:latin typeface="Helvetica"/>
              </a:rPr>
              <a:t>6 hypotheses generated, ranging from full elimination (h1, adversary lethality 9/10) to wrapped 18-month pilot (h6 — synthesized from three independent iter-1 alternatives)</a:t>
            </a:r>
            <a:endParaRPr/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200">
                <a:solidFill>
                  <a:srgbClr val="054AD8"/>
                </a:solidFill>
                <a:latin typeface="Helvetica"/>
              </a:rPr>
              <a:t>▪  </a:t>
            </a:r>
            <a:r>
              <a:rPr sz="1200">
                <a:solidFill>
                  <a:srgbClr val="1A1A1A"/>
                </a:solidFill>
                <a:latin typeface="Helvetica"/>
              </a:rPr>
              <a:t>2 iterations — convergence reached at iteration 2 with 88% [C3:council] assumption stability and 0 unresolved contradictions</a:t>
            </a:r>
            <a:endParaRPr/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200">
                <a:solidFill>
                  <a:srgbClr val="054AD8"/>
                </a:solidFill>
                <a:latin typeface="Helvetica"/>
              </a:rPr>
              <a:t>▪  </a:t>
            </a:r>
            <a:r>
              <a:rPr sz="1200">
                <a:solidFill>
                  <a:srgbClr val="1A1A1A"/>
                </a:solidFill>
                <a:latin typeface="Helvetica"/>
              </a:rPr>
              <a:t>Adversary phase generated 6 scenarios: 3 worst-cases + 3 black swans (no irrational-actor cell on this brief)</a:t>
            </a:r>
            <a:endParaRPr/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200">
                <a:solidFill>
                  <a:srgbClr val="054AD8"/>
                </a:solidFill>
                <a:latin typeface="Helvetica"/>
              </a:rPr>
              <a:t>▪  </a:t>
            </a:r>
            <a:r>
              <a:rPr sz="1200">
                <a:solidFill>
                  <a:srgbClr val="1A1A1A"/>
                </a:solidFill>
                <a:latin typeface="Helvetica"/>
              </a:rPr>
              <a:t>Sensitivity analysis on 7 key assumptions — 3 high-sensitivity, 4 medium</a:t>
            </a:r>
            <a:endParaRPr/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200">
                <a:solidFill>
                  <a:srgbClr val="054AD8"/>
                </a:solidFill>
                <a:latin typeface="Helvetica"/>
              </a:rPr>
              <a:t>▪  </a:t>
            </a:r>
            <a:r>
              <a:rPr sz="1200">
                <a:solidFill>
                  <a:srgbClr val="1A1A1A"/>
                </a:solidFill>
                <a:latin typeface="Helvetica"/>
              </a:rPr>
              <a:t>Real-world anchors: ABA Formal Opinion 512 [G2] (six obligations), Mata v. Avianca [G4] sanctions baseline, Ropes &amp; Gray TrAIlblazers [G7] precedent for structured AI integration without cuts</a:t>
            </a: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Source: Decision Brief Convergence Log; engine-protocol.md</a:t>
            </a:r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6528816"/>
            <a:ext cx="164592" cy="1645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378"/>
                </a:solidFill>
                <a:latin typeface="Helvetica"/>
              </a:rPr>
              <a:t>Autodecision     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4AD8"/>
                </a:solidFill>
                <a:latin typeface="Helvetica"/>
              </a:rPr>
              <a:t>2.2/  HYPOTHESES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6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Georgia"/>
              </a:rPr>
              <a:t>Six hypotheses surfaced; only h6 (wrapped pilot) survived unanimous iter-2 rank-1 endorsement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1737360"/>
            <a:ext cx="1118616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201168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#</a:t>
            </a: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Hypothesis</a:t>
            </a: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74920" y="201168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Status</a:t>
            </a: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43800" y="201168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Key assumptions</a:t>
            </a:r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502920" y="2423160"/>
            <a:ext cx="11247120" cy="0"/>
          </a:xfrm>
          <a:prstGeom prst="line">
            <a:avLst/>
          </a:prstGeom>
          <a:ln w="1270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2514600"/>
            <a:ext cx="457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1</a:t>
            </a: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514600"/>
            <a:ext cx="4114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Eliminate entire 1Y class; gross savings $3-5M/yr</a:t>
            </a:r>
            <a:endParaRPr/>
          </a:p>
        </p:txBody>
      </p:sp>
      <p:sp>
        <p:nvSpPr>
          <p:cNvPr id="12" name="Oval 11"/>
          <p:cNvSpPr/>
          <p:nvPr/>
        </p:nvSpPr>
        <p:spPr>
          <a:xfrm>
            <a:off x="5074920" y="2560320"/>
            <a:ext cx="118872" cy="118872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76088" y="2514600"/>
            <a:ext cx="2267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C0392B"/>
                </a:solidFill>
                <a:latin typeface="Helvetica"/>
              </a:rPr>
              <a:t>Eliminated · 9/10 lethal</a:t>
            </a: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43800" y="2514600"/>
            <a:ext cx="4206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Claude 40%+ substitutability · Review batching works · Ranking damage reframable</a:t>
            </a:r>
            <a:endParaRPr/>
          </a:p>
        </p:txBody>
      </p:sp>
      <p:cxnSp>
        <p:nvCxnSpPr>
          <p:cNvPr id="15" name="Connector 14"/>
          <p:cNvCxnSpPr/>
          <p:nvPr/>
        </p:nvCxnSpPr>
        <p:spPr>
          <a:xfrm>
            <a:off x="502920" y="3017520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920" y="3017520"/>
            <a:ext cx="457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2</a:t>
            </a: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3017520"/>
            <a:ext cx="4114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Keep full 1Y class + Claude + 200-400hr training</a:t>
            </a:r>
            <a:endParaRPr/>
          </a:p>
        </p:txBody>
      </p:sp>
      <p:sp>
        <p:nvSpPr>
          <p:cNvPr id="18" name="Oval 17"/>
          <p:cNvSpPr/>
          <p:nvPr/>
        </p:nvSpPr>
        <p:spPr>
          <a:xfrm>
            <a:off x="5074920" y="3063240"/>
            <a:ext cx="118872" cy="118872"/>
          </a:xfrm>
          <a:prstGeom prst="ellipse">
            <a:avLst/>
          </a:prstGeom>
          <a:solidFill>
            <a:srgbClr val="054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76088" y="3017520"/>
            <a:ext cx="2267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54AD8"/>
                </a:solidFill>
                <a:latin typeface="Helvetica"/>
              </a:rPr>
              <a:t>Floor / fallback</a:t>
            </a: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43800" y="3017520"/>
            <a:ext cx="4206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Competitors slow-roll adoption · ABA 512 compliance manageable</a:t>
            </a:r>
            <a:endParaRPr/>
          </a:p>
        </p:txBody>
      </p:sp>
      <p:cxnSp>
        <p:nvCxnSpPr>
          <p:cNvPr id="21" name="Connector 20"/>
          <p:cNvCxnSpPr/>
          <p:nvPr/>
        </p:nvCxnSpPr>
        <p:spPr>
          <a:xfrm>
            <a:off x="502920" y="3520440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02920" y="3520440"/>
            <a:ext cx="457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3</a:t>
            </a: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3520440"/>
            <a:ext cx="4114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Cut 1Y class 50-60%, AI-augment remainder</a:t>
            </a:r>
            <a:endParaRPr/>
          </a:p>
        </p:txBody>
      </p:sp>
      <p:sp>
        <p:nvSpPr>
          <p:cNvPr id="24" name="Oval 23"/>
          <p:cNvSpPr/>
          <p:nvPr/>
        </p:nvSpPr>
        <p:spPr>
          <a:xfrm>
            <a:off x="5074920" y="3566160"/>
            <a:ext cx="118872" cy="118872"/>
          </a:xfrm>
          <a:prstGeom prst="ellipse">
            <a:avLst/>
          </a:prstGeom>
          <a:solidFill>
            <a:srgbClr val="054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76088" y="3520440"/>
            <a:ext cx="2267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54AD8"/>
                </a:solidFill>
                <a:latin typeface="Helvetica"/>
              </a:rPr>
              <a:t>Core engine of h6</a:t>
            </a:r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543800" y="3520440"/>
            <a:ext cx="4206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Remaining 1Ys at 1.8-2x throughput · Retention bonuses feasible</a:t>
            </a:r>
            <a:endParaRPr/>
          </a:p>
        </p:txBody>
      </p:sp>
      <p:cxnSp>
        <p:nvCxnSpPr>
          <p:cNvPr id="27" name="Connector 26"/>
          <p:cNvCxnSpPr/>
          <p:nvPr/>
        </p:nvCxnSpPr>
        <p:spPr>
          <a:xfrm>
            <a:off x="502920" y="4023360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02920" y="4023360"/>
            <a:ext cx="457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4</a:t>
            </a:r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0120" y="4023360"/>
            <a:ext cx="4114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Skip 1Y, hire at year-2 equivalent via laterals</a:t>
            </a:r>
            <a:endParaRPr/>
          </a:p>
        </p:txBody>
      </p:sp>
      <p:sp>
        <p:nvSpPr>
          <p:cNvPr id="30" name="Oval 29"/>
          <p:cNvSpPr/>
          <p:nvPr/>
        </p:nvSpPr>
        <p:spPr>
          <a:xfrm>
            <a:off x="5074920" y="4069080"/>
            <a:ext cx="118872" cy="118872"/>
          </a:xfrm>
          <a:prstGeom prst="ellipse">
            <a:avLst/>
          </a:prstGeom>
          <a:solidFill>
            <a:srgbClr val="6E7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276088" y="4023360"/>
            <a:ext cx="2267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E7378"/>
                </a:solidFill>
                <a:latin typeface="Helvetica"/>
              </a:rPr>
              <a:t>Weakened</a:t>
            </a:r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543800" y="4023360"/>
            <a:ext cx="4206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Lateral premium 20-40% erases savings within 24-36 months</a:t>
            </a:r>
            <a:endParaRPr/>
          </a:p>
        </p:txBody>
      </p:sp>
      <p:cxnSp>
        <p:nvCxnSpPr>
          <p:cNvPr id="33" name="Connector 32"/>
          <p:cNvCxnSpPr/>
          <p:nvPr/>
        </p:nvCxnSpPr>
        <p:spPr>
          <a:xfrm>
            <a:off x="502920" y="4526280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02920" y="4526280"/>
            <a:ext cx="457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5</a:t>
            </a:r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60120" y="4526280"/>
            <a:ext cx="4114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Two-track: traditional + AI-ops JD at $120-150K</a:t>
            </a:r>
            <a:endParaRPr/>
          </a:p>
        </p:txBody>
      </p:sp>
      <p:sp>
        <p:nvSpPr>
          <p:cNvPr id="36" name="Oval 35"/>
          <p:cNvSpPr/>
          <p:nvPr/>
        </p:nvSpPr>
        <p:spPr>
          <a:xfrm>
            <a:off x="5074920" y="4572000"/>
            <a:ext cx="118872" cy="118872"/>
          </a:xfrm>
          <a:prstGeom prst="ellipse">
            <a:avLst/>
          </a:prstGeom>
          <a:solidFill>
            <a:srgbClr val="6E7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276088" y="4526280"/>
            <a:ext cx="2267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E7378"/>
                </a:solidFill>
                <a:latin typeface="Helvetica"/>
              </a:rPr>
              <a:t>Weakened</a:t>
            </a:r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543800" y="4526280"/>
            <a:ext cx="4206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AI-ops talent pool stable · Bar scrutiny manageable · Caste risk</a:t>
            </a:r>
            <a:endParaRPr/>
          </a:p>
        </p:txBody>
      </p:sp>
      <p:cxnSp>
        <p:nvCxnSpPr>
          <p:cNvPr id="39" name="Connector 38"/>
          <p:cNvCxnSpPr/>
          <p:nvPr/>
        </p:nvCxnSpPr>
        <p:spPr>
          <a:xfrm>
            <a:off x="502920" y="5029200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02920" y="5029200"/>
            <a:ext cx="457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6</a:t>
            </a:r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60120" y="5029200"/>
            <a:ext cx="4114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Wrapped 18-month pilot: h3 + co-design + sandbox + kill</a:t>
            </a:r>
            <a:endParaRPr/>
          </a:p>
        </p:txBody>
      </p:sp>
      <p:sp>
        <p:nvSpPr>
          <p:cNvPr id="42" name="Oval 41"/>
          <p:cNvSpPr/>
          <p:nvPr/>
        </p:nvSpPr>
        <p:spPr>
          <a:xfrm>
            <a:off x="5074920" y="5074920"/>
            <a:ext cx="118872" cy="118872"/>
          </a:xfrm>
          <a:prstGeom prst="ellipse">
            <a:avLst/>
          </a:prstGeom>
          <a:solidFill>
            <a:srgbClr val="1F7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276088" y="5029200"/>
            <a:ext cx="2267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7A44"/>
                </a:solidFill>
                <a:latin typeface="Helvetica"/>
              </a:rPr>
              <a:t>Leading · iter-2 rank-1</a:t>
            </a:r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543800" y="5029200"/>
            <a:ext cx="4206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Partners honor kill criteria · Anchor GCs accept advisory · Utah admits</a:t>
            </a:r>
            <a:endParaRPr/>
          </a:p>
        </p:txBody>
      </p:sp>
      <p:cxnSp>
        <p:nvCxnSpPr>
          <p:cNvPr id="45" name="Connector 44"/>
          <p:cNvCxnSpPr/>
          <p:nvPr/>
        </p:nvCxnSpPr>
        <p:spPr>
          <a:xfrm>
            <a:off x="502920" y="5532120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Source: Decision Brief — Hypotheses Explored</a:t>
            </a:r>
            <a:endParaRPr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6528816"/>
            <a:ext cx="164592" cy="164592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378"/>
                </a:solidFill>
                <a:latin typeface="Helvetica"/>
              </a:rPr>
              <a:t>Autodecision     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4AD8"/>
                </a:solidFill>
                <a:latin typeface="Helvetica"/>
              </a:rPr>
              <a:t>2.3/  STRATEGIC POSITIONING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6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Georgia"/>
              </a:rPr>
              <a:t>Plotted on reversibility × franchise risk, h6 sits in the manageable quadrant; h1 sits where every adversarial scenario amplifies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1737360"/>
            <a:ext cx="1118616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0"/>
            <a:ext cx="7772400" cy="384888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58199" y="2011680"/>
            <a:ext cx="323088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4AD8"/>
                </a:solidFill>
                <a:latin typeface="Helvetica"/>
              </a:rPr>
              <a:t>READ</a:t>
            </a:r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8458199" y="2322576"/>
            <a:ext cx="3230881" cy="0"/>
          </a:xfrm>
          <a:prstGeom prst="line">
            <a:avLst/>
          </a:prstGeom>
          <a:ln w="15240">
            <a:solidFill>
              <a:srgbClr val="05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458199" y="2423160"/>
            <a:ext cx="3230881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950">
                <a:solidFill>
                  <a:srgbClr val="054AD8"/>
                </a:solidFill>
                <a:latin typeface="Helvetica"/>
              </a:rPr>
              <a:t>▪  </a:t>
            </a:r>
            <a:r>
              <a:rPr sz="950">
                <a:solidFill>
                  <a:srgbClr val="1A1A1A"/>
                </a:solidFill>
                <a:latin typeface="Helvetica"/>
              </a:rPr>
              <a:t>h1 — Full elimination — 7-yr pipeline rupture P=0.80, ranking re-rate 1-2 tiers, malpractice incident P=0.52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950">
                <a:solidFill>
                  <a:srgbClr val="054AD8"/>
                </a:solidFill>
                <a:latin typeface="Helvetica"/>
              </a:rPr>
              <a:t>▪  </a:t>
            </a:r>
            <a:r>
              <a:rPr sz="950">
                <a:solidFill>
                  <a:srgbClr val="1A1A1A"/>
                </a:solidFill>
                <a:latin typeface="Helvetica"/>
              </a:rPr>
              <a:t>h4 — Lateral substitution — premium erases savings within 24-36 months (P=0.78)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950">
                <a:solidFill>
                  <a:srgbClr val="054AD8"/>
                </a:solidFill>
                <a:latin typeface="Helvetica"/>
              </a:rPr>
              <a:t>▪  </a:t>
            </a:r>
            <a:r>
              <a:rPr sz="950">
                <a:solidFill>
                  <a:srgbClr val="1A1A1A"/>
                </a:solidFill>
                <a:latin typeface="Helvetica"/>
              </a:rPr>
              <a:t>h5 — Two-track JD — culture clash + bar supervision scrutiny on MRPC 5.3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950">
                <a:solidFill>
                  <a:srgbClr val="054AD8"/>
                </a:solidFill>
                <a:latin typeface="Helvetica"/>
              </a:rPr>
              <a:t>▪  </a:t>
            </a:r>
            <a:r>
              <a:rPr sz="950">
                <a:solidFill>
                  <a:srgbClr val="1A1A1A"/>
                </a:solidFill>
                <a:latin typeface="Helvetica"/>
              </a:rPr>
              <a:t>h3 — Cut 50-60% standalone — efficiency without the wrapper, h6 minus safeguards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950">
                <a:solidFill>
                  <a:srgbClr val="054AD8"/>
                </a:solidFill>
                <a:latin typeface="Helvetica"/>
              </a:rPr>
              <a:t>▪  </a:t>
            </a:r>
            <a:r>
              <a:rPr sz="950">
                <a:solidFill>
                  <a:srgbClr val="1A1A1A"/>
                </a:solidFill>
                <a:latin typeface="Helvetica"/>
              </a:rPr>
              <a:t>h2 — Status quo + Claude — regulator-cleanest path, no strategic upside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950">
                <a:solidFill>
                  <a:srgbClr val="054AD8"/>
                </a:solidFill>
                <a:latin typeface="Helvetica"/>
              </a:rPr>
              <a:t>▪  </a:t>
            </a:r>
            <a:r>
              <a:rPr sz="950">
                <a:solidFill>
                  <a:srgbClr val="1A1A1A"/>
                </a:solidFill>
                <a:latin typeface="Helvetica"/>
              </a:rPr>
              <a:t>h6 — Wrapped 18-month pilot — kill criteria + anchor clients + sandbox preserve reversibility</a:t>
            </a: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Source: Synthesis from Decision Brief — bubble size = council_agreement × probability of dominance</a:t>
            </a:r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6528816"/>
            <a:ext cx="164592" cy="1645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378"/>
                </a:solidFill>
                <a:latin typeface="Helvetica"/>
              </a:rPr>
              <a:t>Autodecision     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50292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196F3"/>
                </a:solidFill>
                <a:latin typeface="Helvetica"/>
              </a:rPr>
              <a:t>PART 3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33172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FFFFF"/>
                </a:solidFill>
                <a:latin typeface="Georgia"/>
              </a:rPr>
              <a:t>What the council
found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3931920"/>
            <a:ext cx="7315200" cy="0"/>
          </a:xfrm>
          <a:prstGeom prst="line">
            <a:avLst/>
          </a:prstGeom>
          <a:ln w="12700">
            <a:solidFill>
              <a:srgbClr val="4A66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411480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B8C4D0"/>
                </a:solidFill>
                <a:latin typeface="Helvetica"/>
              </a:rPr>
              <a:t>Where the personas converged, where they diverged, and what the disagreement itself reveals about the decision.</a:t>
            </a: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9CA9B5"/>
                </a:solidFill>
                <a:latin typeface="Helvetica"/>
              </a:rPr>
              <a:t>Autodecision     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4AD8"/>
                </a:solidFill>
                <a:latin typeface="Helvetica"/>
              </a:rPr>
              <a:t>3.1/  EFFECTS MAP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6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Georgia"/>
              </a:rPr>
              <a:t>The strongest signals point to pipeline rupture under elimination and structural antifragility under the wrapped pilot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1737360"/>
            <a:ext cx="1118616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0"/>
            <a:ext cx="7315200" cy="41741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92440" y="2011680"/>
            <a:ext cx="359664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Top 12 effects ranked by council_agreement × probability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Bar color = council agreement (navy = 5/5, fading to pale = 1/5)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Black bracket = persona disagreement range — width is the uncertainty signal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Two highest-probability 5/5 signals (pipeline rupture + lateral premium) both reject h1 elimination from independent angles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Regulator's Utah sandbox finding (1/5, P=0.90) — single-persona but load-bearing for h6 reversibility</a:t>
            </a: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Source: Decision Brief — Effects Map (top 12 by council_agreement × probability) · [C4:pessimist], [C5:regulator], [C6:customer]</a:t>
            </a:r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6528816"/>
            <a:ext cx="164592" cy="1645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378"/>
                </a:solidFill>
                <a:latin typeface="Helvetica"/>
              </a:rPr>
              <a:t>Autodecision     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4AD8"/>
                </a:solidFill>
                <a:latin typeface="Helvetica"/>
              </a:rPr>
              <a:t>3.2/  COUNCIL DYNAMICS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6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Georgia"/>
              </a:rPr>
              <a:t>The deepest disagreement — legal cleanness vs strategic upside — IS the data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1737360"/>
            <a:ext cx="1118616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2011680"/>
            <a:ext cx="5410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54AD8"/>
                </a:solidFill>
                <a:latin typeface="Helvetica"/>
              </a:rPr>
              <a:t>STRONGEST: PESSIMIST</a:t>
            </a:r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502920" y="2377440"/>
            <a:ext cx="541020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2514600"/>
            <a:ext cx="54102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100">
                <a:solidFill>
                  <a:srgbClr val="054AD8"/>
                </a:solidFill>
                <a:latin typeface="Helvetica"/>
              </a:rPr>
              <a:t>▪  </a:t>
            </a:r>
            <a:r>
              <a:rPr sz="1100">
                <a:solidFill>
                  <a:srgbClr val="1A1A1A"/>
                </a:solidFill>
                <a:latin typeface="Helvetica"/>
              </a:rPr>
              <a:t>Surfaced the hallucination-incident probability anchor (P=0.52 for h1) and the partnership pipeline rupture math (P=0.80) that broke h1</a:t>
            </a:r>
            <a:endParaRPr/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100">
                <a:solidFill>
                  <a:srgbClr val="054AD8"/>
                </a:solidFill>
                <a:latin typeface="Helvetica"/>
              </a:rPr>
              <a:t>▪  </a:t>
            </a:r>
            <a:r>
              <a:rPr sz="1100">
                <a:solidFill>
                  <a:srgbClr val="1A1A1A"/>
                </a:solidFill>
                <a:latin typeface="Helvetica"/>
              </a:rPr>
              <a:t>Designed the reversibility structure — kill criteria + binding triggers — that became the core of h6</a:t>
            </a:r>
            <a:endParaRPr/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100">
                <a:solidFill>
                  <a:srgbClr val="054AD8"/>
                </a:solidFill>
                <a:latin typeface="Helvetica"/>
              </a:rPr>
              <a:t>▪  </a:t>
            </a:r>
            <a:r>
              <a:rPr sz="1100">
                <a:solidFill>
                  <a:srgbClr val="1A1A1A"/>
                </a:solidFill>
                <a:latin typeface="Helvetica"/>
              </a:rPr>
              <a:t>Identified senior-review overhead as a 40-60% drag on h1's gross savings, eroding the cost rationale even before risk adjustment</a:t>
            </a:r>
            <a:endParaRPr/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100">
                <a:solidFill>
                  <a:srgbClr val="054AD8"/>
                </a:solidFill>
                <a:latin typeface="Helvetica"/>
              </a:rPr>
              <a:t>▪  </a:t>
            </a:r>
            <a:r>
              <a:rPr sz="1100">
                <a:solidFill>
                  <a:srgbClr val="1A1A1A"/>
                </a:solidFill>
                <a:latin typeface="Helvetica"/>
              </a:rPr>
              <a:t>Pessimist's iter-2 framing positioned h6 as 'h3 with the wrapper' — making the safeguard layers explicit and individually testable</a:t>
            </a: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78880" y="2011680"/>
            <a:ext cx="5410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89BC7"/>
                </a:solidFill>
                <a:latin typeface="Helvetica"/>
              </a:rPr>
              <a:t>DEEPEST DIVIDE: CLEANNESS VS STRATEGY</a:t>
            </a:r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6278880" y="2377440"/>
            <a:ext cx="541020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78880" y="2514600"/>
            <a:ext cx="54102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100">
                <a:solidFill>
                  <a:srgbClr val="054AD8"/>
                </a:solidFill>
                <a:latin typeface="Helvetica"/>
              </a:rPr>
              <a:t>▪  </a:t>
            </a:r>
            <a:r>
              <a:rPr sz="1100">
                <a:solidFill>
                  <a:srgbClr val="1A1A1A"/>
                </a:solidFill>
                <a:latin typeface="Helvetica"/>
              </a:rPr>
              <a:t>Regulator: h2 (status quo + Claude) scores 0.85 [C7:regulator] on legal cleanness; h6 scores 0.75</a:t>
            </a:r>
            <a:endParaRPr/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100">
                <a:solidFill>
                  <a:srgbClr val="054AD8"/>
                </a:solidFill>
                <a:latin typeface="Helvetica"/>
              </a:rPr>
              <a:t>▪  </a:t>
            </a:r>
            <a:r>
              <a:rPr sz="1100">
                <a:solidFill>
                  <a:srgbClr val="1A1A1A"/>
                </a:solidFill>
                <a:latin typeface="Helvetica"/>
              </a:rPr>
              <a:t>Pessimist + Customer: h6's strategic upside dominates the 10-point cleanness gap — h2 forfeits the trust differentiator and category-leadership narrative</a:t>
            </a:r>
            <a:endParaRPr/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100">
                <a:solidFill>
                  <a:srgbClr val="054AD8"/>
                </a:solidFill>
                <a:latin typeface="Helvetica"/>
              </a:rPr>
              <a:t>▪  </a:t>
            </a:r>
            <a:r>
              <a:rPr sz="1100">
                <a:solidFill>
                  <a:srgbClr val="1A1A1A"/>
                </a:solidFill>
                <a:latin typeface="Helvetica"/>
              </a:rPr>
              <a:t>Resolution: h6 with the four regulator corrections (Utah-only, WARN-compliant, MRPC 1.5/1.6 covenants, pilot-disclosed offer letters) closes most of the gap</a:t>
            </a:r>
            <a:endParaRPr/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100">
                <a:solidFill>
                  <a:srgbClr val="054AD8"/>
                </a:solidFill>
                <a:latin typeface="Helvetica"/>
              </a:rPr>
              <a:t>▪  </a:t>
            </a:r>
            <a:r>
              <a:rPr sz="1100">
                <a:solidFill>
                  <a:srgbClr val="1A1A1A"/>
                </a:solidFill>
                <a:latin typeface="Helvetica"/>
              </a:rPr>
              <a:t>Uncertainty hotspot: Claude substitutability — persona range 25-60%, adversary flagged 40% as likely overstated; this is what the 90-day pilot exists to measure</a:t>
            </a:r>
            <a:endParaRPr/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100">
                <a:solidFill>
                  <a:srgbClr val="054AD8"/>
                </a:solidFill>
                <a:latin typeface="Helvetica"/>
              </a:rPr>
              <a:t>▪  </a:t>
            </a:r>
            <a:r>
              <a:rPr sz="1100">
                <a:solidFill>
                  <a:srgbClr val="1A1A1A"/>
                </a:solidFill>
                <a:latin typeface="Helvetica"/>
              </a:rPr>
              <a:t>BLIND SPOT caught: legal-ops paralegals are MORE substitutable than 1Ys (70%+ overlap) — they bear the heaviest cuts under h1 unless an AI-ops ladder exists</a:t>
            </a: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Source: Decision Brief — Council Dynamics · [C7:regulator], [C8:pessimist]</a:t>
            </a:r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6528816"/>
            <a:ext cx="164592" cy="16459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378"/>
                </a:solidFill>
                <a:latin typeface="Helvetica"/>
              </a:rPr>
              <a:t>Autodecision     10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4AD8"/>
                </a:solidFill>
                <a:latin typeface="Helvetica"/>
              </a:rPr>
              <a:t>3.3/  COUNCIL DEPTH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6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Georgia"/>
              </a:rPr>
              <a:t>Pessimist scored highest on adversarial coverage and structural depth; Optimist's narrow ranges drove its lowest peer rank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1737360"/>
            <a:ext cx="1118616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0"/>
            <a:ext cx="5943600" cy="42793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20840" y="2011680"/>
            <a:ext cx="49682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Each persona scored 1-5 across five rigor dimensions, derived from peer-review and critique outputs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Pessimist's structural depth surfaced both the kill-criteria pilot and the senior-review overhead math — the two pillars of h6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Customer caught the blind spot — paralegals are more substitutable than 1Ys, plus the anchor-client co-design structure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Regulator's quantitative rigor on jurisdictional specificity (Utah vs Arizona) was unique — the regulatory cover is jurisdiction-specific, not generic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Optimist's narrow ranges and weak counter-factual depth flagged in critique — substitutability optimism not anchored in empirical pilot data</a:t>
            </a: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Source: Synthesized from Decision Brief — Council Dynamics + Critique outputs</a:t>
            </a:r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6528816"/>
            <a:ext cx="164592" cy="1645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378"/>
                </a:solidFill>
                <a:latin typeface="Helvetica"/>
              </a:rPr>
              <a:t>Autodecision     11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4AD8"/>
                </a:solidFill>
                <a:latin typeface="Helvetica"/>
              </a:rPr>
              <a:t>3.4/  ADVERSARIAL PRESSURE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6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Georgia"/>
              </a:rPr>
              <a:t>Six adversarial scenarios — h6's wrapper defuses 4 of them; 2 remain (carrier non-renewal, Cravath-scale bump)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1737360"/>
            <a:ext cx="1118616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2011680"/>
            <a:ext cx="354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54AD8"/>
                </a:solidFill>
                <a:latin typeface="Helvetica"/>
              </a:rPr>
              <a:t>WORST CASES</a:t>
            </a:r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502920" y="2377440"/>
            <a:ext cx="3545840" cy="0"/>
          </a:xfrm>
          <a:prstGeom prst="line">
            <a:avLst/>
          </a:prstGeom>
          <a:ln w="19050">
            <a:solidFill>
              <a:srgbClr val="05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2514600"/>
            <a:ext cx="35458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Hallucination incident in pilot year 1 — triggers kill criterion, loses 1-2 anchor clients, malpractice premium +15-40% (P=0.30)</a:t>
            </a:r>
            <a:endParaRPr/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Two top performers defect within 6 months of pilot announcement — institutional knowledge loss, vote-of-no-confidence read (P=0.45)</a:t>
            </a:r>
            <a:endParaRPr/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Anchor GC co-design stalls past 6 months — firm announces pilot without trust differentiator, signals uncertainty (P=0.35)</a:t>
            </a: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23080" y="2011680"/>
            <a:ext cx="354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89BC7"/>
                </a:solidFill>
                <a:latin typeface="Helvetica"/>
              </a:rPr>
              <a:t>BLACK SWANS</a:t>
            </a:r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4323080" y="2377440"/>
            <a:ext cx="3545840" cy="0"/>
          </a:xfrm>
          <a:prstGeom prst="line">
            <a:avLst/>
          </a:prstGeom>
          <a:ln w="19050">
            <a:solidFill>
              <a:srgbClr val="E89B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323080" y="2514600"/>
            <a:ext cx="35458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State bar disciplinary action against peer firm for AI-related MRPC violation — chills pilot, forces premature rollback (P=0.20)</a:t>
            </a:r>
            <a:endParaRPr/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Cravath-scale bump to $250-275K during pilot — cost rationale weakens if base salaries rise faster than Claude capability (P=0.25)</a:t>
            </a:r>
            <a:endParaRPr/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Malpractice carrier non-renewal of coverage for AI-augmented firms — existential, forces fallback to h2 immediately (P=0.10)</a:t>
            </a: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43240" y="2011680"/>
            <a:ext cx="354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196F3"/>
                </a:solidFill>
                <a:latin typeface="Helvetica"/>
              </a:rPr>
              <a:t>MITIGATIONS</a:t>
            </a:r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8143240" y="2377440"/>
            <a:ext cx="3545840" cy="0"/>
          </a:xfrm>
          <a:prstGeom prst="line">
            <a:avLst/>
          </a:prstGeom>
          <a:ln w="19050">
            <a:solidFill>
              <a:srgbClr val="2196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143240" y="2514600"/>
            <a:ext cx="35458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h6 SOP discipline cuts hallucination P from 0.52 (h1 pure) to 0.30 — review batching + 50% fewer Claude-handled matters</a:t>
            </a:r>
            <a:endParaRPr/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Utah sandbox provides partial regulatory cover for peer-firm-discipline contagion</a:t>
            </a:r>
            <a:endParaRPr/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Confirm carrier buy-in BEFORE pilot launch (Month 1 dependency) — converts black swan into bounded gate</a:t>
            </a:r>
            <a:endParaRPr/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Net savings computed in absolute dollars, not share-of-comp — Cravath bump doesn't invalidate pilot economics</a:t>
            </a: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Source: Decision Brief — Adversarial Scenarios · [C9:adversary], [C10:adversary]</a:t>
            </a:r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6528816"/>
            <a:ext cx="164592" cy="16459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378"/>
                </a:solidFill>
                <a:latin typeface="Helvetica"/>
              </a:rPr>
              <a:t>Autodecision     12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4AD8"/>
                </a:solidFill>
                <a:latin typeface="Helvetica"/>
              </a:rPr>
              <a:t>3.5/  SENSITIVITY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6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Georgia"/>
              </a:rPr>
              <a:t>Three high-sensitivity assumptions are load-bearing — if any fails, the pilot collapses to unwrapped h3 with all of h1's downside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1737360"/>
            <a:ext cx="1118616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0"/>
            <a:ext cx="7315200" cy="41350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92440" y="2011680"/>
            <a:ext cx="359664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Bar length = sensitivity weight × number of effects impacted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Dark-blue bar = HIGH sensitivity, lighter = MEDIUM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Substitutability is the single empirical question the 90-day pilot exists to answer — pre-pilot persona range 25-60%, adversary flagged 40% as likely overstated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Kill-criteria honoring is the one assumption the firm controls directly — make it externally enforceable (board resolution, client-notified commitments, month-12 external audit)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Lateral market tightness is SOLID per Bloomberg/Biglaw Investor data — the only HIGH-sensitivity assumption with strong external support</a:t>
            </a: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Source: Decision Brief — Key Assumptions · [C1:assumption], [C2:assumption], [C11:assumption]</a:t>
            </a:r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6528816"/>
            <a:ext cx="164592" cy="1645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378"/>
                </a:solidFill>
                <a:latin typeface="Helvetica"/>
              </a:rPr>
              <a:t>Autodecision     13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50292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196F3"/>
                </a:solidFill>
                <a:latin typeface="Helvetica"/>
              </a:rPr>
              <a:t>PART 4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33172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FFFFFF"/>
                </a:solidFill>
                <a:latin typeface="Georgia"/>
              </a:rPr>
              <a:t>Path forward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3931920"/>
            <a:ext cx="7315200" cy="0"/>
          </a:xfrm>
          <a:prstGeom prst="line">
            <a:avLst/>
          </a:prstGeom>
          <a:ln w="12700">
            <a:solidFill>
              <a:srgbClr val="4A66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411480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B8C4D0"/>
                </a:solidFill>
                <a:latin typeface="Helvetica"/>
              </a:rPr>
              <a:t>Ten gates from week 1 to month 24 — every commitment is bounded by carrier, client, regulator, and pilot data.</a:t>
            </a: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9CA9B5"/>
                </a:solidFill>
                <a:latin typeface="Helvetica"/>
              </a:rPr>
              <a:t>Autodecision     14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4AD8"/>
                </a:solidFill>
                <a:latin typeface="Helvetica"/>
              </a:rPr>
              <a:t>4.1/  ROADMAP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6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Georgia"/>
              </a:rPr>
              <a:t>The recommendation maps to a ten-gate roadmap with explicit kill criteria at every stage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1737360"/>
            <a:ext cx="1118616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810512"/>
            <a:ext cx="1118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E7378"/>
                </a:solidFill>
                <a:latin typeface="Helvetica"/>
              </a:rPr>
              <a:t>Every gate has a binding kill criterion; failure at any gate triggers pause, redesign, or full Cravath-scale rehire of next 1Y class</a:t>
            </a: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2402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When</a:t>
            </a: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17320" y="224028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Action</a:t>
            </a: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17720" y="224028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Decision point</a:t>
            </a: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18120" y="224028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Kill criteria</a:t>
            </a:r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502920" y="2651760"/>
            <a:ext cx="11247120" cy="0"/>
          </a:xfrm>
          <a:prstGeom prst="line">
            <a:avLst/>
          </a:prstGeom>
          <a:ln w="1270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2743200"/>
            <a:ext cx="914400" cy="341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Week 1</a:t>
            </a: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17320" y="2743200"/>
            <a:ext cx="3200400" cy="341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Confidential briefings with 3-5 Fortune 500 GCs</a:t>
            </a: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2743200"/>
            <a:ext cx="3200400" cy="341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Anchor GCs accept advisory board</a:t>
            </a: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18120" y="2743200"/>
            <a:ext cx="3931920" cy="341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0392B"/>
                </a:solidFill>
                <a:latin typeface="Helvetica"/>
              </a:rPr>
              <a:t>2+ anchor GCs decline → pause</a:t>
            </a:r>
            <a:endParaRPr/>
          </a:p>
        </p:txBody>
      </p:sp>
      <p:cxnSp>
        <p:nvCxnSpPr>
          <p:cNvPr id="15" name="Connector 14"/>
          <p:cNvCxnSpPr/>
          <p:nvPr/>
        </p:nvCxnSpPr>
        <p:spPr>
          <a:xfrm>
            <a:off x="502920" y="3084271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920" y="3084271"/>
            <a:ext cx="914400" cy="341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Week 2</a:t>
            </a: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417320" y="3084271"/>
            <a:ext cx="3200400" cy="341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Begin Utah sandbox application</a:t>
            </a: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17720" y="3084271"/>
            <a:ext cx="3200400" cy="341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Sandbox staff signals openness</a:t>
            </a: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18120" y="3084271"/>
            <a:ext cx="3931920" cy="341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0392B"/>
                </a:solidFill>
                <a:latin typeface="Helvetica"/>
              </a:rPr>
              <a:t>Pre-app hostility → abandon h6</a:t>
            </a:r>
            <a:endParaRPr/>
          </a:p>
        </p:txBody>
      </p:sp>
      <p:cxnSp>
        <p:nvCxnSpPr>
          <p:cNvPr id="20" name="Connector 19"/>
          <p:cNvCxnSpPr/>
          <p:nvPr/>
        </p:nvCxnSpPr>
        <p:spPr>
          <a:xfrm>
            <a:off x="502920" y="3425342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02920" y="3425342"/>
            <a:ext cx="914400" cy="341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Month 1</a:t>
            </a:r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417320" y="3425342"/>
            <a:ext cx="3200400" cy="341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Confirm malpractice carrier buy-in + SOP</a:t>
            </a: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17720" y="3425342"/>
            <a:ext cx="3200400" cy="341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Carrier go/no-go</a:t>
            </a:r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818120" y="3425342"/>
            <a:ext cx="3931920" cy="341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0392B"/>
                </a:solidFill>
                <a:latin typeface="Helvetica"/>
              </a:rPr>
              <a:t>Refusal or +40% premium → halt</a:t>
            </a:r>
            <a:endParaRPr/>
          </a:p>
        </p:txBody>
      </p:sp>
      <p:cxnSp>
        <p:nvCxnSpPr>
          <p:cNvPr id="25" name="Connector 24"/>
          <p:cNvCxnSpPr/>
          <p:nvPr/>
        </p:nvCxnSpPr>
        <p:spPr>
          <a:xfrm>
            <a:off x="502920" y="3766413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02920" y="3766413"/>
            <a:ext cx="914400" cy="341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Month 2</a:t>
            </a: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417320" y="3766413"/>
            <a:ext cx="3200400" cy="341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Partner vote on binding kill criteria</a:t>
            </a:r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17720" y="3766413"/>
            <a:ext cx="3200400" cy="341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Board resolution + audit committee</a:t>
            </a:r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18120" y="3766413"/>
            <a:ext cx="3931920" cy="341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0392B"/>
                </a:solidFill>
                <a:latin typeface="Helvetica"/>
              </a:rPr>
              <a:t>Partners dilute or refuse → halt</a:t>
            </a:r>
            <a:endParaRPr/>
          </a:p>
        </p:txBody>
      </p:sp>
      <p:cxnSp>
        <p:nvCxnSpPr>
          <p:cNvPr id="30" name="Connector 29"/>
          <p:cNvCxnSpPr/>
          <p:nvPr/>
        </p:nvCxnSpPr>
        <p:spPr>
          <a:xfrm>
            <a:off x="502920" y="4107484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02920" y="4107484"/>
            <a:ext cx="914400" cy="341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Month 3</a:t>
            </a:r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417320" y="4107484"/>
            <a:ext cx="3200400" cy="341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Finalize anchor advisory + AI-disclosure covenants</a:t>
            </a:r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617720" y="4107484"/>
            <a:ext cx="3200400" cy="341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Commercial terms binding</a:t>
            </a:r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818120" y="4107484"/>
            <a:ext cx="3931920" cy="341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0392B"/>
                </a:solidFill>
                <a:latin typeface="Helvetica"/>
              </a:rPr>
              <a:t>Co-design fails to convert → halt</a:t>
            </a:r>
            <a:endParaRPr/>
          </a:p>
        </p:txBody>
      </p:sp>
      <p:cxnSp>
        <p:nvCxnSpPr>
          <p:cNvPr id="35" name="Connector 34"/>
          <p:cNvCxnSpPr/>
          <p:nvPr/>
        </p:nvCxnSpPr>
        <p:spPr>
          <a:xfrm>
            <a:off x="502920" y="4448555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02920" y="4448555"/>
            <a:ext cx="914400" cy="341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Month 4</a:t>
            </a:r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417320" y="4448555"/>
            <a:ext cx="3200400" cy="341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Public announcement; 1Y class set at 50-60%</a:t>
            </a:r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617720" y="4448555"/>
            <a:ext cx="3200400" cy="341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Offer letters disclose pilot status</a:t>
            </a:r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818120" y="4448555"/>
            <a:ext cx="3931920" cy="341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0392B"/>
                </a:solidFill>
                <a:latin typeface="Helvetica"/>
              </a:rPr>
              <a:t>WARN Act issue raised → halt</a:t>
            </a:r>
            <a:endParaRPr/>
          </a:p>
        </p:txBody>
      </p:sp>
      <p:cxnSp>
        <p:nvCxnSpPr>
          <p:cNvPr id="40" name="Connector 39"/>
          <p:cNvCxnSpPr/>
          <p:nvPr/>
        </p:nvCxnSpPr>
        <p:spPr>
          <a:xfrm>
            <a:off x="502920" y="4789626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02920" y="4789626"/>
            <a:ext cx="914400" cy="341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M5-9</a:t>
            </a:r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417320" y="4789626"/>
            <a:ext cx="3200400" cy="341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Pilot live; 90-day substitutability audit</a:t>
            </a:r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617720" y="4789626"/>
            <a:ext cx="3200400" cy="341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Monthly ops review</a:t>
            </a:r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818120" y="4789626"/>
            <a:ext cx="3931920" cy="341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0392B"/>
                </a:solidFill>
                <a:latin typeface="Helvetica"/>
              </a:rPr>
              <a:t>Hallucination · attrition &gt;30% · margin lift &lt;5pt</a:t>
            </a:r>
            <a:endParaRPr/>
          </a:p>
        </p:txBody>
      </p:sp>
      <p:cxnSp>
        <p:nvCxnSpPr>
          <p:cNvPr id="45" name="Connector 44"/>
          <p:cNvCxnSpPr/>
          <p:nvPr/>
        </p:nvCxnSpPr>
        <p:spPr>
          <a:xfrm>
            <a:off x="502920" y="5130697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02920" y="5130697"/>
            <a:ext cx="914400" cy="341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Month 12</a:t>
            </a:r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417320" y="5130697"/>
            <a:ext cx="3200400" cy="341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Midterm review with empirical data</a:t>
            </a:r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617720" y="5130697"/>
            <a:ext cx="3200400" cy="341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Continue / modify / kill</a:t>
            </a:r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818120" y="5130697"/>
            <a:ext cx="3931920" cy="341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0392B"/>
                </a:solidFill>
                <a:latin typeface="Helvetica"/>
              </a:rPr>
              <a:t>Kill triggered → rehire full 1Y class</a:t>
            </a:r>
            <a:endParaRPr/>
          </a:p>
        </p:txBody>
      </p:sp>
      <p:cxnSp>
        <p:nvCxnSpPr>
          <p:cNvPr id="50" name="Connector 49"/>
          <p:cNvCxnSpPr/>
          <p:nvPr/>
        </p:nvCxnSpPr>
        <p:spPr>
          <a:xfrm>
            <a:off x="502920" y="5471768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02920" y="5471768"/>
            <a:ext cx="914400" cy="341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Month 18</a:t>
            </a:r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417320" y="5471768"/>
            <a:ext cx="3200400" cy="341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Final pilot evaluation</a:t>
            </a:r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617720" y="5471768"/>
            <a:ext cx="3200400" cy="341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Adopt / extend / revert to h2</a:t>
            </a:r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818120" y="5471768"/>
            <a:ext cx="3931920" cy="341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E7378"/>
                </a:solidFill>
                <a:latin typeface="Helvetica"/>
              </a:rPr>
              <a:t>Any kill criterion → revert to h2</a:t>
            </a:r>
            <a:endParaRPr/>
          </a:p>
        </p:txBody>
      </p:sp>
      <p:cxnSp>
        <p:nvCxnSpPr>
          <p:cNvPr id="55" name="Connector 54"/>
          <p:cNvCxnSpPr/>
          <p:nvPr/>
        </p:nvCxnSpPr>
        <p:spPr>
          <a:xfrm>
            <a:off x="502920" y="5812839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02920" y="5812839"/>
            <a:ext cx="914400" cy="341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Month 24</a:t>
            </a:r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417320" y="5812839"/>
            <a:ext cx="3200400" cy="341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If adopting: expand to other practice groups</a:t>
            </a:r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617720" y="5812839"/>
            <a:ext cx="3200400" cy="341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Scale decision</a:t>
            </a:r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818120" y="5812839"/>
            <a:ext cx="3931920" cy="341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7A44"/>
                </a:solidFill>
                <a:latin typeface="Helvetica"/>
              </a:rPr>
              <a:t>Margin lift &lt;7pt → freeze expansion</a:t>
            </a:r>
            <a:endParaRPr/>
          </a:p>
        </p:txBody>
      </p:sp>
      <p:cxnSp>
        <p:nvCxnSpPr>
          <p:cNvPr id="60" name="Connector 59"/>
          <p:cNvCxnSpPr/>
          <p:nvPr/>
        </p:nvCxnSpPr>
        <p:spPr>
          <a:xfrm>
            <a:off x="502920" y="6153910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Source: Decision Brief — Appendix A: Decision Timeline · phased gates per [C2:assumption], [C12:regulator]</a:t>
            </a:r>
            <a:endParaRPr/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6528816"/>
            <a:ext cx="164592" cy="164592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378"/>
                </a:solidFill>
                <a:latin typeface="Helvetica"/>
              </a:rPr>
              <a:t>Autodecision     15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4AD8"/>
                </a:solidFill>
                <a:latin typeface="Helvetica"/>
              </a:rPr>
              <a:t>APPENDIX  SOURCES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6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Georgia"/>
              </a:rPr>
              <a:t>Selected sources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1737360"/>
            <a:ext cx="1118616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810512"/>
            <a:ext cx="1118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E7378"/>
                </a:solidFill>
                <a:latin typeface="Helvetica"/>
              </a:rPr>
              <a:t>Tags appear inline throughout the deck — [G#] = ground data, [C#:persona] = council finding, [C#:assumption] = sensitivity assumption</a:t>
            </a: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24028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Tag</a:t>
            </a: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74520" y="22402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Type</a:t>
            </a: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88920" y="2240280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Claim</a:t>
            </a: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72600" y="224028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Source</a:t>
            </a:r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502920" y="2651760"/>
            <a:ext cx="11247120" cy="0"/>
          </a:xfrm>
          <a:prstGeom prst="line">
            <a:avLst/>
          </a:prstGeom>
          <a:ln w="1270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2743200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G1</a:t>
            </a: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874520" y="2743200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Ground</a:t>
            </a: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88920" y="2743200"/>
            <a:ext cx="6583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Fully loaded 1Y cost $400-450K/yr; class of 8-12 → $3.2-5.4M/yr gross savings</a:t>
            </a: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72600" y="2743200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Bloomberg Law, Biglaw Investor</a:t>
            </a:r>
            <a:endParaRPr/>
          </a:p>
        </p:txBody>
      </p:sp>
      <p:cxnSp>
        <p:nvCxnSpPr>
          <p:cNvPr id="15" name="Connector 14"/>
          <p:cNvCxnSpPr/>
          <p:nvPr/>
        </p:nvCxnSpPr>
        <p:spPr>
          <a:xfrm>
            <a:off x="502920" y="2999232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920" y="2999232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G2</a:t>
            </a: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874520" y="2999232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Ground</a:t>
            </a: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88920" y="2999232"/>
            <a:ext cx="6583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ABA Formal Opinion 512 (July 2024): six obligations on AI use</a:t>
            </a: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72600" y="2999232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ABA Formal Opinion 512</a:t>
            </a:r>
            <a:endParaRPr/>
          </a:p>
        </p:txBody>
      </p:sp>
      <p:cxnSp>
        <p:nvCxnSpPr>
          <p:cNvPr id="20" name="Connector 19"/>
          <p:cNvCxnSpPr/>
          <p:nvPr/>
        </p:nvCxnSpPr>
        <p:spPr>
          <a:xfrm>
            <a:off x="502920" y="3255264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02920" y="3255264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G3</a:t>
            </a:r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874520" y="3255264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Ground</a:t>
            </a: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788920" y="3255264"/>
            <a:ext cx="6583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Cravath-scale 1Y base $225K; ~32% of firms match fully</a:t>
            </a:r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72600" y="3255264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Bloomberg Law</a:t>
            </a:r>
            <a:endParaRPr/>
          </a:p>
        </p:txBody>
      </p:sp>
      <p:cxnSp>
        <p:nvCxnSpPr>
          <p:cNvPr id="25" name="Connector 24"/>
          <p:cNvCxnSpPr/>
          <p:nvPr/>
        </p:nvCxnSpPr>
        <p:spPr>
          <a:xfrm>
            <a:off x="502920" y="3511296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02920" y="3511296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G4</a:t>
            </a: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874520" y="3511296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Ground</a:t>
            </a:r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788920" y="3511296"/>
            <a:ext cx="6583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Mata v. Avianca (2023): $5K sanctions baseline for hallucinated citations</a:t>
            </a:r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372600" y="3511296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S.D.N.Y. precedent</a:t>
            </a:r>
            <a:endParaRPr/>
          </a:p>
        </p:txBody>
      </p:sp>
      <p:cxnSp>
        <p:nvCxnSpPr>
          <p:cNvPr id="30" name="Connector 29"/>
          <p:cNvCxnSpPr/>
          <p:nvPr/>
        </p:nvCxnSpPr>
        <p:spPr>
          <a:xfrm>
            <a:off x="502920" y="3767328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02920" y="3767328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G5</a:t>
            </a:r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874520" y="3767328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Ground</a:t>
            </a:r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788920" y="3767328"/>
            <a:ext cx="6583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26% of legal organizations using GenAI 2026 (up from 14% in 2024)</a:t>
            </a:r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372600" y="3767328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Clio 2026 AI Legal Compliance</a:t>
            </a:r>
            <a:endParaRPr/>
          </a:p>
        </p:txBody>
      </p:sp>
      <p:cxnSp>
        <p:nvCxnSpPr>
          <p:cNvPr id="35" name="Connector 34"/>
          <p:cNvCxnSpPr/>
          <p:nvPr/>
        </p:nvCxnSpPr>
        <p:spPr>
          <a:xfrm>
            <a:off x="502920" y="4023360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02920" y="4023360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G6</a:t>
            </a:r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874520" y="4023360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Ground</a:t>
            </a:r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788920" y="4023360"/>
            <a:ext cx="6583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Malpractice carriers price AI: governed lowers premium, ungoverned +15-40%</a:t>
            </a:r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372600" y="4023360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Above the Law</a:t>
            </a:r>
            <a:endParaRPr/>
          </a:p>
        </p:txBody>
      </p:sp>
      <p:cxnSp>
        <p:nvCxnSpPr>
          <p:cNvPr id="40" name="Connector 39"/>
          <p:cNvCxnSpPr/>
          <p:nvPr/>
        </p:nvCxnSpPr>
        <p:spPr>
          <a:xfrm>
            <a:off x="502920" y="4279392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02920" y="4279392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G7</a:t>
            </a:r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874520" y="4279392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Ground</a:t>
            </a:r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788920" y="4279392"/>
            <a:ext cx="6583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Ropes &amp; Gray TrAIlblazers: 380-400hr/yr AI skill-building credit for 1Ys</a:t>
            </a:r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372600" y="4279392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Above the Law</a:t>
            </a:r>
            <a:endParaRPr/>
          </a:p>
        </p:txBody>
      </p:sp>
      <p:cxnSp>
        <p:nvCxnSpPr>
          <p:cNvPr id="45" name="Connector 44"/>
          <p:cNvCxnSpPr/>
          <p:nvPr/>
        </p:nvCxnSpPr>
        <p:spPr>
          <a:xfrm>
            <a:off x="502920" y="4535424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02920" y="4535424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C1:assumption</a:t>
            </a:r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874520" y="4535424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Council</a:t>
            </a:r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788920" y="4535424"/>
            <a:ext cx="6583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Claude substitutes ~40% of 1Y hours (range 25-60%, adversary flag)</a:t>
            </a:r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372600" y="4535424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iter-1 council + adversary</a:t>
            </a:r>
            <a:endParaRPr/>
          </a:p>
        </p:txBody>
      </p:sp>
      <p:cxnSp>
        <p:nvCxnSpPr>
          <p:cNvPr id="50" name="Connector 49"/>
          <p:cNvCxnSpPr/>
          <p:nvPr/>
        </p:nvCxnSpPr>
        <p:spPr>
          <a:xfrm>
            <a:off x="502920" y="4791456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02920" y="4791456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C2:assumption</a:t>
            </a:r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874520" y="4791456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Council</a:t>
            </a:r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788920" y="4791456"/>
            <a:ext cx="6583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Partners honor pre-committed kill criteria — SHAKEABLE</a:t>
            </a:r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372600" y="4791456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iter-2 pessimist</a:t>
            </a:r>
            <a:endParaRPr/>
          </a:p>
        </p:txBody>
      </p:sp>
      <p:cxnSp>
        <p:nvCxnSpPr>
          <p:cNvPr id="55" name="Connector 54"/>
          <p:cNvCxnSpPr/>
          <p:nvPr/>
        </p:nvCxnSpPr>
        <p:spPr>
          <a:xfrm>
            <a:off x="502920" y="5047488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02920" y="5047488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C4:pessimist</a:t>
            </a:r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874520" y="5047488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Council</a:t>
            </a:r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788920" y="5047488"/>
            <a:ext cx="6583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h1 partnership pipeline rupture P=0.80 (5/5)</a:t>
            </a:r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372600" y="5047488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iter-1 pessimist</a:t>
            </a:r>
            <a:endParaRPr/>
          </a:p>
        </p:txBody>
      </p:sp>
      <p:cxnSp>
        <p:nvCxnSpPr>
          <p:cNvPr id="60" name="Connector 59"/>
          <p:cNvCxnSpPr/>
          <p:nvPr/>
        </p:nvCxnSpPr>
        <p:spPr>
          <a:xfrm>
            <a:off x="502920" y="5303520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502920" y="5303520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C5:regulator</a:t>
            </a:r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874520" y="5303520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Council</a:t>
            </a:r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2788920" y="5303520"/>
            <a:ext cx="6583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Utah Office of Legal Services Innovation = correct regulatory cover</a:t>
            </a:r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372600" y="5303520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iter-1 regulator</a:t>
            </a:r>
            <a:endParaRPr/>
          </a:p>
        </p:txBody>
      </p:sp>
      <p:cxnSp>
        <p:nvCxnSpPr>
          <p:cNvPr id="65" name="Connector 64"/>
          <p:cNvCxnSpPr/>
          <p:nvPr/>
        </p:nvCxnSpPr>
        <p:spPr>
          <a:xfrm>
            <a:off x="502920" y="5559552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502920" y="5559552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C7:regulator</a:t>
            </a:r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874520" y="5559552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Council</a:t>
            </a:r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2788920" y="5559552"/>
            <a:ext cx="6583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h2 cleanness 0.85 vs h6 0.75 — narrow gap closed by 4 corrections</a:t>
            </a:r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372600" y="5559552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iter-2 regulator</a:t>
            </a:r>
            <a:endParaRPr/>
          </a:p>
        </p:txBody>
      </p:sp>
      <p:cxnSp>
        <p:nvCxnSpPr>
          <p:cNvPr id="70" name="Connector 69"/>
          <p:cNvCxnSpPr/>
          <p:nvPr/>
        </p:nvCxnSpPr>
        <p:spPr>
          <a:xfrm>
            <a:off x="502920" y="5815584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502920" y="5815584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C9:adversary</a:t>
            </a:r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874520" y="5815584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Council</a:t>
            </a:r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2788920" y="5815584"/>
            <a:ext cx="6583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Hallucination incident pilot year 1 P=0.30 (down from 0.52 h1)</a:t>
            </a:r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9372600" y="5815584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iter-1 adversary</a:t>
            </a:r>
            <a:endParaRPr/>
          </a:p>
        </p:txBody>
      </p:sp>
      <p:cxnSp>
        <p:nvCxnSpPr>
          <p:cNvPr id="75" name="Connector 74"/>
          <p:cNvCxnSpPr/>
          <p:nvPr/>
        </p:nvCxnSpPr>
        <p:spPr>
          <a:xfrm>
            <a:off x="502920" y="6071616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502920" y="6071616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C12:regulator</a:t>
            </a:r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1874520" y="6071616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Council</a:t>
            </a:r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2788920" y="6071616"/>
            <a:ext cx="6583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WARN Act 60-day notice if 1Y cuts trigger; MRPC 1.5/1.6 covenants</a:t>
            </a:r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9372600" y="6071616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iter-1 regulator</a:t>
            </a:r>
            <a:endParaRPr/>
          </a:p>
        </p:txBody>
      </p:sp>
      <p:cxnSp>
        <p:nvCxnSpPr>
          <p:cNvPr id="80" name="Connector 79"/>
          <p:cNvCxnSpPr/>
          <p:nvPr/>
        </p:nvCxnSpPr>
        <p:spPr>
          <a:xfrm>
            <a:off x="502920" y="6327648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Source: Decision Brief — Sources (full list in companion brief markdown)</a:t>
            </a:r>
            <a:endParaRPr/>
          </a:p>
        </p:txBody>
      </p:sp>
      <p:pic>
        <p:nvPicPr>
          <p:cNvPr id="82" name="Picture 8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6528816"/>
            <a:ext cx="164592" cy="164592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378"/>
                </a:solidFill>
                <a:latin typeface="Helvetica"/>
              </a:rPr>
              <a:t>Autodecision     16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