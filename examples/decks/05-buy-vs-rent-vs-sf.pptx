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51C2C"/>
                </a:solidFill>
                <a:latin typeface="Georgia"/>
              </a:rPr>
              <a:t>Autodecision</a:t>
            </a:r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5852160" cy="585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19456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A1A1A"/>
                </a:solidFill>
                <a:latin typeface="Georgia"/>
              </a:rPr>
              <a:t>Buy in Bangalore, rent + invest, or relocate to SF?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Decision Brief — possibility map and recommendation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8978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7378"/>
                </a:solidFill>
                <a:latin typeface="Helvetica"/>
              </a:rPr>
              <a:t>April 2026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GENERATED BY AUTODECISION — possibility map with synthesized recommendation, not a single-shot answer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Table of contents</a:t>
            </a:r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02920" y="109728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Section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1234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Slides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160020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Recommendation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783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How we explored this decision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4 – 7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What the council found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8 – 13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Path forward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291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14 – 15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Appendix — Sources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94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16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1/  RECOMMENDATION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No option dominates; ship the staged real-options path with buy-small as the default endpoint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11680"/>
            <a:ext cx="11186160" cy="1554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1554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637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Phase 1 (Months 0-36): rent near grandparents + 100% delta into 70/30 SIP + cross-border tax advisor + H1B exploration. Gate 1 at Year 3: if visa secured + alignment + discipline → Phase 2 SF; else → Buy-Small (4-5 Cr apartment + invest remainder). Phase 3: return with USD savings if SF executes.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CONFIDENCE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4041648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MEDIUM · values-driven (not information-limited) · 38/60 score, did not reach 70% threshold · further iteration would refine probabilities by 5-10% only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260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DEPENDS ON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292600" y="4041648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260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Investment discipline &gt;70% of planned delta [G10] · Both H1Bs secured [G5] · Marriage alignment 7+/10 at every gate · Grandparent availability 3+ yrs · SF savings hold $80-120K [G4]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228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MONITOR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082280" y="4041648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8228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Quarterly: SIP rate (kill at &lt;60% for 2 quarters) · Couple happiness (pause at &lt;5/10) · H1B lottery results · Bangalore AQI · AI salary compression in SF roles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PRE-MORTEM</a:t>
            </a:r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02920" y="5312664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Decision fatigue → impulsive commitment (P=0.35) · Phase 1 becomes permanent (P=0.30, converges to buy-small — not failure) · Visa never materializes (P=0.45 by yr 5) · Marriage strain from optionality (P=0.25)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260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DEEPEST DISAGREEMENT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292600" y="5312664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260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Discipline vs forced savings: rent+invest beats buying ONLY at 70% investment rate × 11% CAGR. India SIP base rate is 50%+ discontinuation within 3 yrs [G10]. Disagreement IS the data.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228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REVIEW TRIGGER</a:t>
            </a:r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8082280" y="5312664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228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SIP rate &lt;60% (2 quarters) · Both H1Bs fail same year · AQI &gt;Very Poor 90+ days/yr · Second child confirmed · One spouse &lt;5/10 happiness · 15%+ SF salary compression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(full mode, 2 iterations, did not converge — values-driven) · [G4], [G5], [G10]</a:t>
            </a:r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2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How we explored
this decision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A 5-persona council, 7 competing hypotheses, 2 iterations on a values-driven decision, 5 adversarial findings — what survived?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2.1/  HOW WE ANALYZED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Seven hypotheses across 2 iterations of a 5-persona council, stress-tested by 5 adversarial findings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186160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5 personas spawned as separate subagents — Growth Optimist, Risk Pessimist, Competitor Strategist, Constraint Analyst, Family Advocate — each with independent context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7 hypotheses generated, including h2 split into disciplined (2a) and realistic (2b) variants in iteration 2 to expose the behavioural assumption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2 iterations — convergence NOT reached (38/60 score vs 70% threshold) because the disagreement is values-driven, not information-limited; further iteration would refine by 5-10% only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Adversary surfaced 3 worst-case scenarios + 2 critical structural findings (sequential probability collapse, correlated layoff/market risk)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Sensitivity analysis on 8 assumptions — 4 high-sensitivity (3 of which are FRAGILE), 2 medium, 2 low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Real-world anchors: Indian SIP discontinuation 50%+ within 3 years [G10], H1B household visa 55% by year 3 [G5], INR/USD depreciation 3-4%/yr structural [G7]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Convergence Log; engine-protocol.md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2.2/  HYPOTHESES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Seven hypotheses surfaced; the staged path (h5) and buy-small (h6) emerged as the most stress-resilient pair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#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Hypothesis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Status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Key assumptions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24231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5146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Buy 10 Cr Bangalore — roots, stability, forced savings</a:t>
            </a:r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74920" y="256032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5146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Catastrophic if wrong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Premium appreciation 6-8% [G1] · No life event forces relocation · Forced savings beats portfolio leak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17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2a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Rent + invest, disciplined (full delta, 10 years)</a:t>
            </a:r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4920" y="306324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301752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378"/>
                </a:solidFill>
                <a:latin typeface="Helvetica"/>
              </a:rPr>
              <a:t>Theoretically optimal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0175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100% delta invested 10 yrs · 12% CAGR sustained · Behavioural drag avoided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02920" y="35204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52044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2b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Rent + invest, realistic (65% invested, behavioural drag)</a:t>
            </a:r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920" y="3566160"/>
            <a:ext cx="118872" cy="118872"/>
          </a:xfrm>
          <a:prstGeom prst="ellipse">
            <a:avLst/>
          </a:prstGeom>
          <a:solidFill>
            <a:srgbClr val="05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6088" y="352044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Most likely 2a outcome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352044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Discipline drifts · Family obligations drain corpus · Lifestyle inflation</a:t>
            </a:r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02336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02336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Relocate to SF — USD earnings, corrected savings</a:t>
            </a:r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74920" y="406908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40233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E7378"/>
                </a:solidFill>
                <a:latin typeface="Helvetica"/>
              </a:rPr>
              <a:t>Career-justified, not wealth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402336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H1B 55% by yr 3 [G5] · Savings $80-120K [G4] · Career trajectory worth family cost</a:t>
            </a:r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02920" y="452628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452628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4</a:t>
            </a: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52628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Hybrid remote — SF salary from Bangalore</a:t>
            </a:r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74920" y="457200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76088" y="45262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378"/>
                </a:solidFill>
                <a:latin typeface="Helvetica"/>
              </a:rPr>
              <a:t>Weakened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452628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Already breaking · RTO mandates · Geo-pay compression · Transfer pricing</a:t>
            </a:r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502920" y="502920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50292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5</a:t>
            </a: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0292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Staged real-options — rent now, SF conditional on visa</a:t>
            </a:r>
            <a:endParaRPr/>
          </a:p>
        </p:txBody>
      </p:sp>
      <p:sp>
        <p:nvSpPr>
          <p:cNvPr id="42" name="Oval 41"/>
          <p:cNvSpPr/>
          <p:nvPr/>
        </p:nvSpPr>
        <p:spPr>
          <a:xfrm>
            <a:off x="5074920" y="5074920"/>
            <a:ext cx="118872" cy="118872"/>
          </a:xfrm>
          <a:prstGeom prst="ellipse">
            <a:avLst/>
          </a:prstGeom>
          <a:solidFill>
            <a:srgbClr val="05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76088" y="50292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Recommended Phase 1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43800" y="50292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Phase 1 standalone valuable · Sequential P=0.16 joint · Real-options framing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55321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553212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6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0120" y="553212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Buy small (4-5 Cr) + invest rest — roots without the cage</a:t>
            </a:r>
            <a:endParaRPr/>
          </a:p>
        </p:txBody>
      </p:sp>
      <p:sp>
        <p:nvSpPr>
          <p:cNvPr id="48" name="Oval 47"/>
          <p:cNvSpPr/>
          <p:nvPr/>
        </p:nvSpPr>
        <p:spPr>
          <a:xfrm>
            <a:off x="5074920" y="5577840"/>
            <a:ext cx="118872" cy="118872"/>
          </a:xfrm>
          <a:prstGeom prst="ellipse">
            <a:avLst/>
          </a:prstGeom>
          <a:solidFill>
            <a:srgbClr val="1F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76088" y="553212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44"/>
                </a:solidFill>
                <a:latin typeface="Helvetica"/>
              </a:rPr>
              <a:t>Recommended endpoint</a:t>
            </a: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43800" y="55321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EMI 45K/mo single-income sustainable · Highest stress-resilience · Family Advocate proposal</a:t>
            </a:r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502920" y="60350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Hypotheses Explored</a:t>
            </a:r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2.3/  STRATEGIC POSITIONING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On reversibility × commitment risk, h5 and h6 cluster manageable; h1 amplifies under any life event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772400" cy="38488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9" y="2011680"/>
            <a:ext cx="32308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READ</a:t>
            </a: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458199" y="2322576"/>
            <a:ext cx="3230881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58199" y="2423160"/>
            <a:ext cx="3230881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h1 — Buy 10 Cr — golden cage if life event forces exit (12-18 mo sale, 15-20% haircut)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h3 — Relocate SF — visa fragility + double-wipeout exposure (P=0.08 catastrophic)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h4 — Hybrid remote — already weakening (P=0.08), RTO + geo-pay compression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h2a — Rent disciplined — theoretical optimum, depends on 70% investment rate × 11% CAGR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h2b — Rent realistic — 65% invested with behavioural drag (slow leak risk)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h6 — Buy small — highest stress-resilience score, 45K EMI single-income sustainable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h5 — Staged real-options — Phase 1 standalone valuable, real-options chain to h3 or h6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Synthesis from Decision Brief — bubble size = council_agreement × probability of dominance</a:t>
            </a:r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3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What the council
found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Where the personas converged, where they diverged, and what the disagreement itself reveals about the decision.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3.1/  EFFECTS 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strongest signals: liquidity lock-in under buying, behavioural leakage under disciplined renting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74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Top 12 effects ranked by council_agreement × probability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color = council agreement (navy = 5/5, fading to pale = 1/5)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Black bracket = persona disagreement range — width is the uncertainty signal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Iteration 2 corrected SF savings 50% downward — biggest assumption shift in the analysis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Sequential probability finding (P=0.95 confidence) reframed h5 from 25-65% to 16% joint, forcing a real-options framing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High-Confidence Effects + Critical Findings · [G4], [G5], [G10]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3.2/  COUNCIL DYNAMICS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deepest disagreement — discipline vs forced savings — IS the data; values-driven, not information-limited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STRONGEST: CONSTRAINT ANALYST (9.1/10)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Highest peer score on tax + structural depth — DTAA planning, RNOR window, Section 24 cap, removed indexation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Surfaced the single highest-ROI recommendation: hire a cross-border tax advisor (cost 1-2 lakh, saves 10-15 lakh if SF executes)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Identified INR depreciation 3-4%/yr [G7] as structural constant — strongest empirical assumption in the analysis (10-yr USD savings ~35-45% more powerful when converted)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Most calibrated quantitative rigor — every assumption tied to a specific source row in Data Foundation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888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DEEPEST DIVIDE: DISCIPLINE VS FORCED SAVINGS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27888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Optimist + Family Advocate: rent+invest theoretically beats buying at 70% investment rate × 11% CAGR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Adversary + Constraint Analyst: 50%+ of Indian families discontinue SIPs within 3 years [G10] — the house IS the savings mechanism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Council converges on EFFECTS (buying locks liquidity, visa fragile, grandparent help matters) but diverges on CONCLUSIONS because they weight effects differently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This is the hallmark of a values-driven decision — more analysis will not resolve the disagreement; only the couple's own values can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BLIND SPOT caught: marriage strain initially modeled by 1/5 personas (Family Advocate) — added across all hypotheses in iteration 2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Council Dynamics + Convergence Log</a:t>
            </a:r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3.3/  COUNCIL DEPTH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Constraint Analyst scored highest on tax depth; Pessimist's narrow ranges drove its lowest peer rank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5943600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2011680"/>
            <a:ext cx="4968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Each persona scored 1-5 across five rigor dimensions, derived from Council Dynamics narrative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Constraint Analyst (Regulator slot, dark blue) — visibly largest area, mirroring its #1 peer rank (9.1/10)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Family Advocate (Customer slot) caught the marriage-strain blind spot AND proposed the buy-small alternative that became the recommended endpoint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Pessimist's systematically low probabilities (0.10-0.35 across all options) reduced discriminatory power — narrow ranges + low confidence = small radar area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Optimist's 0.10 weight on buying created extreme skew — flagged in iter-2 as not matching the decision-maker's values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Synthesized from Decision Brief — Council Dynamics narrative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3.4/  ADVERSARIAL PRESSURE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Three worst-cases plus two structural findings — h5/h6's staged structure neutralizes 4 of 5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WORST CASES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3545840" cy="0"/>
          </a:xfrm>
          <a:prstGeom prst="line">
            <a:avLst/>
          </a:prstGeom>
          <a:ln w="1905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Double Wipeout (P=0.08): US recession dual-layoff + Nifty crashes 35-40%; 5-7 yr recovery; exposes h2/h3/h5 simultaneously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Golden Cage (P=0.12): bought 10 Cr; 18 mo later child needs medical care abroad / AQI triggers asthma; house = anchor not home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Slow Leak (P=0.18): rent+invest, year 5 corpus halved by family obligations + lifestyle inflation; year 7 less than starting point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2308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STRUCTURAL FINDINGS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323080" y="2377440"/>
            <a:ext cx="3545840" cy="0"/>
          </a:xfrm>
          <a:prstGeom prst="line">
            <a:avLst/>
          </a:prstGeom>
          <a:ln w="1905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308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Sequential Probability — staged path 16% joint (Phase1 70% × Phase2 50% × Phase3 45%), not the 25-65% the council assigned by evaluating phases independently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Correlated Risks — tech layoffs and equity crashes are NOT independent. The scenario where you lose H1B sponsor IS the scenario where Indian portfolio is also down 30%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Marriage strain initially modeled by 1/5 personas — added across all hypotheses in iter-2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24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  <a:latin typeface="Helvetica"/>
              </a:rPr>
              <a:t>MITIGATIONS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143240" y="2377440"/>
            <a:ext cx="3545840" cy="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324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Phase 1 (rent + grandparents + 70/30 SIP) is dominant standalone — defuses Double Wipeout and Slow Leak entry points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Buy-small endpoint (h6) defuses Golden Cage — 4-5 Cr is exitable; 45K EMI is single-income sustainable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Real-options reframe of h5: Phase 1 is the bet; Phase 2/3 are options exercised conditional on visa + alignment + discipline data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Quarterly kill criteria (SIP &lt;60%, happiness &lt;5/10) convert behavioural assumptions into observable triggers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Adversarial Scenarios + Critical Findings</a:t>
            </a:r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3.5/  SENSITIVITY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Four high-sensitivity assumptions are load-bearing — discipline, visa, savings, and marriage all shakeable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42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length = sensitivity weight × number of effects impacted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Dark-blue bar = HIGH sensitivity, lighter = MEDIUM, palest = LOW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Three of four HIGH-sensitivity assumptions are FRAGILE per adversary — investment discipline, H1B, marriage alignment all break under realistic stress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INR depreciation [G7] is the SOLID load-bearer — empirical 30-yr trend, RBI-supported, single most powerful argument for some USD-earning years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Behavioural assumption (#1) is testable in first 12 months — if SIP rate &lt;70%, the answer is already known: buy small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Key Assumptions Ranked by Sensitivity · [G1], [G4], [G5], [G7]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4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Path forward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Sixteen checkpoints from Month 0 to Year 10 — Gate 1 at Year 3 is where the staged path commits or pivots.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4.1/  ROADMAP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recommendation maps to a staged checkpoint timeline with kill criteria gating the year-3 decision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Phase 1 (M0-36) is dominant standalone. Gate 1 splits to SF (h3+staged) or buy-small (h6).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When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2240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Action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Decision point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22402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Kill criteria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0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74320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Cross-border tax advisor + locked SIP (joint approval &gt;5L)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Both spouses agree on lock mechanism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74320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One spouse resists lock → alignment gap surfaced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299923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1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299923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Rent near grandparents + H1B/L1/EB1A eligibility scan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299923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Lease secured; sponsorship paths known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2999232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No employer sponsors → SF needs job change first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25526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25526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3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325526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First SIP discipline check (&gt;=70% of planned delta)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25526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Actual investment vs plan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3255264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&lt;70% in 1st quarter → discuss openly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351129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51129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6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17320" y="351129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First couple alignment check (both &gt;=7/10 happiness)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351129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Honest formal conversation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3511296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Either &lt;5/10 → fundamental issue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376732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376732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12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17320" y="376732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Annual review: SIP + visa + alignment + child dev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17720" y="376732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All four data points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20" y="376732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SIP &lt;60% for 2 quarters → start 4-5 Cr search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02336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Year 1-2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17320" y="402336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H1B lottery (April each year) + L1/EB1A pursuit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20" y="402336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USCIS results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20" y="402336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Both fail 2 yrs → deprioritize SF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427939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427939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Year 2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417320" y="427939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Evaluate second-child timeline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17720" y="427939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Couple family planning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20" y="4279392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2nd child likely → extend Phase 1 by 1-2 yrs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453542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453542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Year 3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17320" y="453542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GATE 1 — visa AND enthusiasm AND discipline?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17720" y="453542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Decision tree from recommendation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18120" y="4535424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7A44"/>
                </a:solidFill>
                <a:latin typeface="Helvetica"/>
              </a:rPr>
              <a:t>Any one missing → execute Buy-Small (h6)</a:t>
            </a:r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02920" y="479145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479145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Y3 Buy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417320" y="479145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Purchase 4-5 Cr apartment; continue SIP on remainder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17720" y="479145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Property + loan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18120" y="4791456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Preferred area too expensive → adjacent</a:t>
            </a:r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502920" y="504748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50474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Y3 SF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417320" y="504748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Begin SF job search timed to kindergarten window</a:t>
            </a: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17720" y="504748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Visa-sponsored offers ready</a:t>
            </a: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18120" y="504748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Offers weak → delay 6-12 mo, do not force</a:t>
            </a:r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502920" y="5303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" y="530352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Y4-5 SF</a:t>
            </a: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17320" y="53035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Child enters US kindergarten (developmental window)</a:t>
            </a: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17720" y="53035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School enrollment + housing</a:t>
            </a: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818120" y="530352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Enrollment fails → backup intl school in BLR</a:t>
            </a:r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502920" y="555955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02920" y="555955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Year 5</a:t>
            </a: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417320" y="555955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SF mid-term review: career trajectory worth family cost?</a:t>
            </a:r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617720" y="555955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Savings + career growth + family health</a:t>
            </a: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818120" y="5559552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Savings &lt;$80K/yr or strain high → plan return</a:t>
            </a:r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502920" y="581558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2920" y="581558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Y8-10</a:t>
            </a: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417320" y="581558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Evaluate return with USD savings + RNOR window</a:t>
            </a:r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17720" y="581558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Child preferences + career + corpus</a:t>
            </a:r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818120" y="5815584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Child resists return → phase may not execute</a:t>
            </a:r>
            <a:endParaRPr/>
          </a:p>
        </p:txBody>
      </p:sp>
      <p:cxnSp>
        <p:nvCxnSpPr>
          <p:cNvPr id="75" name="Connector 74"/>
          <p:cNvCxnSpPr/>
          <p:nvPr/>
        </p:nvCxnSpPr>
        <p:spPr>
          <a:xfrm>
            <a:off x="502920" y="607161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02920" y="607161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Ongoing</a:t>
            </a:r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417320" y="607161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Quarterly monitoring triggers (SIP, AQI, AI compression)</a:t>
            </a:r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617720" y="607161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Automated reports + couple check-ins</a:t>
            </a:r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818120" y="6071616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7A44"/>
                </a:solidFill>
                <a:latin typeface="Helvetica"/>
              </a:rPr>
              <a:t>Each trigger has its own action</a:t>
            </a:r>
            <a:endParaRPr/>
          </a:p>
        </p:txBody>
      </p:sp>
      <p:cxnSp>
        <p:nvCxnSpPr>
          <p:cNvPr id="80" name="Connector 79"/>
          <p:cNvCxnSpPr/>
          <p:nvPr/>
        </p:nvCxnSpPr>
        <p:spPr>
          <a:xfrm>
            <a:off x="502920" y="632764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Appendix A: Decision Timeline</a:t>
            </a:r>
            <a:endParaRPr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APPENDIX  SOURCES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Selected sources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Tags appear inline throughout the deck — [G#] = ground data (synthesized from Data Foundation table; this brief predates schema v1.1)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Tag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Type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0280" y="22402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Claim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982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Source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2743200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Bangalore premium appreciation 6-8% headline / 2-3% real after tax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2743200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NoBroker, 99acres (2024-2026)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84271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84271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084271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0280" y="3084271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Nifty 50 10-year CAGR 7-17% by entry; 12-14% consensus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3084271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BSE historical data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42534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425342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G3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3425342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80" y="3425342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SF dual-tech household income $350-500K gross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3425342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Levels.fyi, Glassdoor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3766413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766413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G4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3766413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0280" y="3766413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SF realistic annual savings $80-120K (corrected from $150-250K)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3766413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CA tax 48-50% + housing + childcare model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410748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4107484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G5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4107484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0280" y="4107484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H1B household visa probability 20% yr1 / 55% yr3 / 72% yr5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4107484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USCIS lottery cumulative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4448555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448555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G6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4448555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40280" y="4448555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India EB2/EB3 green card wait 10-50+ years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98280" y="4448555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USCIS Visa Bulletin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478962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4789626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G7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4789626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40280" y="4789626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INR/USD depreciation 3-4% annually (30-year trend)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98280" y="4789626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RBI historical data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5130697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5130697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G8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43000" y="5130697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40280" y="5130697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Premium Bangalore rental yield 3-4.5%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98280" y="5130697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Business Standard (2024)</a:t>
            </a:r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02920" y="547176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5471768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G9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43000" y="5471768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40280" y="5471768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EMI on 7-8 Cr loan at 8.5% = 85-90K/month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98280" y="5471768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Standard amortization</a:t>
            </a:r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502920" y="5812839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5812839"/>
            <a:ext cx="6400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G10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43000" y="5812839"/>
            <a:ext cx="109728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40280" y="5812839"/>
            <a:ext cx="68580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Indian SIP discontinuation rate 50%+ within 3 years</a:t>
            </a: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98280" y="5812839"/>
            <a:ext cx="265176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AMFI, Morningstar India</a:t>
            </a:r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502920" y="615391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Data Foundation table (synthesized into [G#] tags; brief predates ## Sources schema)</a:t>
            </a:r>
            <a:endParaRPr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