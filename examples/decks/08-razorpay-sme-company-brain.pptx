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A1A1A"/>
                </a:solidFill>
                <a:latin typeface="Georgia"/>
              </a:rPr>
              <a:t>Should Razorpay build a
company brain for SMEs?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Decision Brief — possibility map and recommendation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7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council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 – 13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Path forward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14 – 15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94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Don't build the maximalist company brain — ship a focused agent-native financial layer with three pillars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554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Ship Books + Compliance + Ops + payments-adjacent agents directly. Acquire a books player (ProfitBooks/Vyapar at ₹400-700 cr) for GL depth. Build a Razorpay-CA platform that turns Tally's deepest moat into Razorpay's distribution lever. Defer CRM and growth/marketing to post-IPO Phase 2. Public framing: "agent-native financial layer" — not "company brain."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04164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MEDIUM-HIGH — cross-persona breakthrough convergence on H6 · sensitivity-robust where H1 broad-build is fragile · ICAI CA-Act ceiling validates CA-augmenter framing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04164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Scope discipline holds publicly through IPO window · CAs adopt Razorpay-CA portal at scale · Books-player acquisition target available · ICAI CA-Act monopoly persists · AA-FIU eligibility creates structural moat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04164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Zoho Pay attach rate inside Zoho Books base · Pilot/Digits India localization moves · CA-portal pilot conversion (target 50+ SMEs/CA) · IPO sentiment on Indian fintech · Agent error rate on production GST filings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31266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Scope creep back to broad H1 (P=0.40) · CA-channel pilot fails to deliver 50+ SMEs/CA · Books acquisition target unavailable or overpriced · Agent error in public-name SME triggers ICAI hard guidance · Vembu ideological underpricing collapses payments take-rate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DEEPEST DISAGREEMENT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31266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Knowledge-graph moat: data (Optimist) or workflow + AA-FIU regulatory rail (Pessimist)? Iter-2 resolved toward Pessimist using AA framework + DPDP portability evidence — moat is workflow plus regulatory eligibility, not data exclusivity.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REVIEW TRIGGER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31266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Full review at 6 months post-launch (Oct 2026, pre-IPO). Early triggers: Zoho ships agentic Books v1 · Pilot localizes for India · IPO pricing slips below $4.5B · Visible agent error reaches mainstream press · Tally launches CA-loyalty program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(full mode, 2 iterations, H6 4-5/5 council convergence, 16 adversarial scenarios) · [G3], [G6], [G13], [C1:regulator], [C6:synthesis]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A 5-persona council, 6 competing hypotheses, two iterations to convergence, and 16 adversarial stress scenarios — what survived?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analysis explored 6 hypotheses across 2 iterations of a 5-persona council, stress-tested by 16 adversarial scenarios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personas spawned as separate subagents — Optimist, Pessimist, Competitor (anchored on Zoho), Regulator, Customer — each with independent context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Iteration 1 surfaced 5 hypotheses spanning success (H1), execution failure (H2), competitive response (H3), technology paradigm break (H4), and platform-not-apps alternative (H5)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Iteration 2 ran in light mode, resolved 3 contradictions identified by the Convergence Judge using empirical Zoho 2025 evidence, and added H6 (hybrid focused path) synthesized from 4 cross-persona breakthroughs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Convergence reached at iteration 2: primary signals pass; assumption stability 100%; effective delta of 4 well below the 50 hard cap; 1 residual contradiction (scope-discipline fragility) at threshold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Adversary phase generated 16 stress scenarios — 5 worst cases, 6 black swans, 5 irrational actors — plus a 12-assumption sensitivity tornado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Real-time anchor: Razorpay has already shipped the agentic AI layer (RAY Agentic-AI Toolkit at FTX'25 [G6]) — the live question was depth, not whether to start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Convergence Log + Adversarial Scenarios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Six hypotheses surfaced; only H6 (focused hybrid) survived adversarial pressure and sensitivity analysis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Key assumptions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Razorpay ships full company brain; durable lock-in via payments first-touch + India localization + agent-native depth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Helvetica"/>
              </a:rPr>
              <a:t>Fragile · ~0.30 weighted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Razorpay can execute full stack · agent-native premium real · india-localization holds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Broad build fragments execution; gross margins compress; IPO multiple re-rates downward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~55% if H1 attempted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Engineering capacity constrained · accounting depth underestimated · capex dilutes margin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Zoho's payments cross-sell outpaces Razorpay's accounting extension; first-touch erodes; take-rate compresses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69A29"/>
                </a:solidFill>
                <a:latin typeface="Helvetica"/>
              </a:rPr>
              <a:t>Partially confirmed [G13]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Zoho payments attach aggressive · first-touch erodes · CA recommends Zoho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Agent-native is paradigm break; Razorpay captures post-2026 SME cohort by default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E69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69A29"/>
                </a:solidFill>
                <a:latin typeface="Helvetica"/>
              </a:rPr>
              <a:t>Bounded · 9-12mo window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Agent-native truly different · legacy SaaS cannot retrofit · ICAI monopoly holds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Build platform + partner with Zoho/Tally/ClearTax for apps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Helvetica"/>
              </a:rPr>
              <a:t>Structurally unavailable · 5/5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Partners willing to integrate (5/5 council disagrees) · knowledge graph is real moat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50292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Focused agent-native financial layer + acquire books + CA-channel platform + AA-FIU rail</a:t>
            </a:r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74920" y="507492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50292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44"/>
                </a:solidFill>
                <a:latin typeface="Helvetica"/>
              </a:rPr>
              <a:t>Leading · 4-5/5 convergence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0292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Scope can be disciplined · CAs will switch · acquisition available · ICAI monopoly holds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32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Explored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2.3/  STRATEGIC POSITIONING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Plotted on reversibility × franchise risk, H6 sits in the recoverable / contained quadrant; H1 sits where most plausible scenarios kill it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772400" cy="3846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9" y="2011680"/>
            <a:ext cx="32308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READ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199" y="2322576"/>
            <a:ext cx="3230881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58199" y="2423160"/>
            <a:ext cx="3230881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H1 broad — 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 spread thin — 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H3 Zoho pincer — 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H4 leapfrog — 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H5 platform — 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H6 hybrid — 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+ Adversarial Scenarios</a:t>
            </a:r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3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What the council
found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Five independent persona analyses, anonymized peer review, adversarial pressure, sensitivity sweep — where did insights stabilize, and where did they fracture?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strongest signals: pure platform play is structurally unavailable; CA network gates established-SME migrations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Effects Map (High-Confidence Effects)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3.2/  COUNCIL DYNAMICS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deepest disagreement — is the moat data or workflow? — was the iteration 2 productive contradiction resolved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STRONGEST: Regulator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Best groundedness with [G#] tags throughout · explicit contrarian "what if regulation never materializes" branches per hypothesis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Three genuinely novel specialist insights other personas could not produce: AA framework as UX wedge · ICAI CA-Act monopoly as both ceiling AND distribution insight · Zoho's FIU blind-spot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Single most decision-relevant analysis in the council — the ICAI insight is load-bearing for the recommendation in two distinct ways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88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WEAKEST: Optimist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7888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Clean numerical scaffolding (NRR, ARPU, IPO-multiple math) but anchored on US analogues (Toast/Veeva) without testing Indian SME WTP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Lowest "when I am wrong" rigor across contrarian questions · probability calibration weakest in the council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Highest contribution was creative alternatives (CA-as-partner, open-source agent layer, hybrid platform-plus-thin-apps) — not probability accuracy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+ Minority-View Winners. Cross-persona breakthrough convergence on H6: 4 alt-prefixed insights from 4 different personas converged on the same path — narrow scope (Pessimist), acquire books (Optimist+Pessimist+Competitor), CA-as-distribution (Customer+Optimist+Pessimist), AA-FIU rail (Regulator).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3.3/  COUNCIL DEPTH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Regulator scored highest on adversarial coverage and counter-factual depth; Optimist's narrow ranges drove its #5 peer rank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94360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narrative (canonical for radar synthesis per phase protocol)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3.4/  ADVERSARIAL PRESSURE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16 adversarial scenarios — most push toward broad-build failure; H6 focused path neutralizes 4 of 5 worst cases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WORST CASES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3545840" cy="0"/>
          </a:xfrm>
          <a:prstGeom prst="line">
            <a:avLst/>
          </a:prstGeom>
          <a:ln w="1905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Compound Zoho pincer (P=0.25): take-rate compresses 25 bps + accounting GL ships 9mo late at 70% Tally parity → IPO clears at $3.5-4.5B vs $5-6B target [G3]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Agent trust break in public-name SME (P=0.20): viral founder thread + ICAI position paper → 15-25% pilot SMEs revert; CA channel slams shut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IPO window slams shut (P=0.20): macro/election shock forces scope cut mid-build; brain devolves to accounting + cashflow only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Anthropic disintermediates agent layer (P=0.15): Claude for Business with native MCP connectors makes RAY a thin wrapper [G6]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H5 partnership collapse if pivoted there (P=0.30 conditional): Zoho refuses, Tally extracts 60%+ economics, partner reach 10-15%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308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BLACK SWANS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23080" y="2377440"/>
            <a:ext cx="3545840" cy="0"/>
          </a:xfrm>
          <a:prstGeom prst="line">
            <a:avLst/>
          </a:prstGeom>
          <a:ln w="1905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308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Indian IPO market freeze 9-15mo (P=0.10): macro/SEBI cooling-off; emergency private round at down-valuation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Foundation-model capability shift (P=0.10): GPT-5/Claude Opus 5 absorb GST/ITR knowledge → Pilot/Digits India in 6-9mo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Key-person event during IPO (P=0.05): Mathur or Kumar departure; multiple compresses 20-30%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Zoho breaks 25-yr acquisition celibacy (P=0.10): buys Khatabook/ClearTax for ₹2,000-4,000 cr — closes Razorpay greenfield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Major SME data breach (P=0.08): multi-domain DPDP incident, IPO delay 6-12mo [G19]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Microsoft India SMB priority (P=0.07): Copilot + Dynamics 365 + Azure GST localization commoditizes agent layer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24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Helvetica"/>
              </a:rPr>
              <a:t>IRRATIONAL ACTORS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43240" y="2377440"/>
            <a:ext cx="3545840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324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Vembu/Zoho ideological war (P=0.30): zero-MDR Zoho Pay for 24mo at ₹400-600 cr loss to deny IPO momentum [G13]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ICAI tightens AI-attest (P=0.25): mandates CA pre-approval per agent journal entry — lands on competitors more if H6 chosen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5-10 RazorpayX logos publicly defect (P=0.20): founder-Twitter contagion poisons design-partner cohort [G4]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RBI/CCI scrutinize super-app concentration (P=0.20): data-portability remedies, partner-neutrality slow graph moat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Anthropic prioritizes US enterprise (P=0.15): SDK rate-limits or 3-5x price hike with 90-day notice during IPO window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Adversarial Scenarios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3.5/  SENSITIVITY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Five FRAGILE assumptions are load-bearing — if any one fails, broad H1 becomes indefensible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58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Key Assumptions + sensitivity analysis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Path forward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If H6 hybrid is the right path, what does the 30-month execution sequence look like — and where are the kill criteria?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4.1/  ROADMAP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recommendation maps to a six-checkpoint roadmap with explicit kill criteria at each stage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When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011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Action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Depends 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011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Decision point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2011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Kill criteria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423160"/>
            <a:ext cx="103327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51460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0-1 mo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51460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Lock public framing as "agent-native financial layer." Brief PR/IR/board on scope discipline narrative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Internal alignment on narrowed scope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25146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Decide whether to proceed at all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25146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Board insists on "company brain" framing → abandon H6</a:t>
            </a:r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02920" y="301752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01752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0-3 mo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17320" y="30175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M&amp;A diligence on ProfitBooks/Vyapar. CA-portal product spec; recruit 3-5 design-partner CAs. Lock top-5K merchants to 3-yr contracts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01752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Acquisition targets available; CAs willing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0175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LOI within 3 months OR pivot to organic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30175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No LOI by month 3 + no design CAs → narrow to compliance + cashflow</a:t>
            </a:r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02920" y="352044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352044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3-6 mo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35204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Close acquisition. Integrate onto RAY agent layer. Launch CA-portal closed beta with 50-100 CAs. Public-beta announcement</a:t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352044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Acquisition closes; CA pilot 30+ SMEs/CA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5204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Beta SLO + ≥50% CA retention at 90 days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35204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Retention &lt;30%, error rate &gt;2%, slip &gt;2mo → pause launch</a:t>
            </a:r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502920" y="402336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402336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6-12 mo</a:t>
            </a: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402336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Scale CA portal to 1-3K CAs. Financial-layer GA. Begin AA-FIU monetization conversations with frenemy partners</a:t>
            </a: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402336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Beta validated; IPO process on track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402336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IPO RHP filing milestone (month 9-10)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402336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IPO sentiment turns to Zoho-comp multiple → defer GA, hold burn</a:t>
            </a:r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02920" y="452628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45262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12-18 mo</a:t>
            </a: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17320" y="452628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IPO listing (target month 12-15). Phase 2 go/no-go on CRM/growth using IPO proceeds based on Phase 1 attach + competitive position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6280" y="45262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IPO completes; Phase 1 NRR ≥120% bundled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452628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IPO listing + Phase 2 go/no-go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452628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Phase 1 NRR &lt;100% or IPO multiple &lt;6x → hold Phase 2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502920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02920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18-30 mo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17320" y="502920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Selective Phase 2 expansion if validated. Continue CA growth to 10K+. Defend payments core via long-term contracts + embedded fintech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50292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Phase 1 metrics held; capital deployed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5029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24-month strategic review</a:t>
            </a: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23960" y="502920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Phase 2 underperforms specialists at month 24 → do not invest further</a:t>
            </a:r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502920" y="553212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Appendix A: Decision Timeline</a:t>
            </a:r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Every numeric claim in this deck traces to a tagged ground source, document extraction, or council estimate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0116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201168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03327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[G1]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514600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Razorpay FY25 revenue ₹3,783 cr (~$455M), up 65% YoY — gateway, POS, RazorpayX, loyalty, intl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23960" y="251460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medianama Oct 2025</a:t>
            </a:r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02920" y="2770632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7706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[G2]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277063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2770632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Razorpay's stated strategy is already "financial OS for businesses"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277063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medianama</a:t>
            </a:r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502920" y="3026664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302666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[G3]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7320" y="3026664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14600" y="3026664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IPO confidentially filed at ~$5-6B (down from $7.5B 2021); ~₹4,500 cr target raise late 2026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302666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Paypers, BusinessToday Apr 2026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502920" y="3282696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2826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[G4]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32826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4600" y="3282696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RazorpayX 50K+ customers, 70% of Indian unicorns, $30B annualized TPV, 85% YoY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328269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Business Standard</a:t>
            </a:r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502920" y="3538728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2920" y="353872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[G6]</a:t>
            </a: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17320" y="353872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14600" y="3538728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RAY Agentic-AI Toolkit launched Feb 2025 on Anthropic Claude Agent SDK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3538728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yourstory, The Paypers</a:t>
            </a:r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02920" y="379476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379476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[G11]</a:t>
            </a: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17320" y="379476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14600" y="3794760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Tally dominates Indian SME accounting via 25-yr CA-network entrenchment; ~380K CAs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23960" y="379476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onlinenifm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4050792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40507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[G12]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17320" y="405079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14600" y="4050792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Zoho finance suite grew 50% YoY in India; India is Zoho Books #1 geo (40.5%)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23960" y="405079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Outlook Business, 6sense</a:t>
            </a:r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502920" y="4306824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430682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[G13]</a:t>
            </a: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417320" y="4306824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14600" y="4306824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Zoho launched Zoho Payments + Zoho Pay UPI in 2025 — direct cross-sell threat to Razorpay payments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23960" y="430682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Outlook Business</a:t>
            </a:r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502920" y="4562856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456285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[G15]</a:t>
            </a: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17320" y="456285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514600" y="4562856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Pilot announced first fully autonomous AI Accountant in Feb 2026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23960" y="456285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aimultiple</a:t>
            </a:r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502920" y="4818888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48188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[G18]</a:t>
            </a:r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417320" y="481888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14600" y="4818888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AA framework: 126 FIs live, 2.61B accounts, consent-based per-fetch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3960" y="4818888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financialservices.gov.in</a:t>
            </a:r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502920" y="507492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02920" y="507492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[G19]</a:t>
            </a: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417320" y="50749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14600" y="5074920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DPDP Act in force 2025; consent withdrawal, 30-day DSAR, breach notification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23960" y="5074920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DPDP rules 2025</a:t>
            </a:r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502920" y="5330952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" y="53309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[G21]</a:t>
            </a:r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417320" y="533095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14600" y="5330952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Horizontal SaaS rarely exceeds 20% share; vertical leaders 40%+ — winner-takes-most</a:t>
            </a: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23960" y="533095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Tidemark VSKP</a:t>
            </a:r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502920" y="5586984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2920" y="558698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[D2]</a:t>
            </a:r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417320" y="5586984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Document</a:t>
            </a: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14600" y="5586984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Customer churn: Razorpay → Zoho Books → Zoho CRM → Zoho Payments (n=1 founder)</a:t>
            </a: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823960" y="5586984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razorpay-super-app-context.md</a:t>
            </a:r>
            <a:endParaRPr/>
          </a:p>
        </p:txBody>
      </p:sp>
      <p:cxnSp>
        <p:nvCxnSpPr>
          <p:cNvPr id="74" name="Connector 73"/>
          <p:cNvCxnSpPr/>
          <p:nvPr/>
        </p:nvCxnSpPr>
        <p:spPr>
          <a:xfrm>
            <a:off x="502920" y="5843016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2920" y="58430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[C1:regulator]</a:t>
            </a:r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17320" y="58430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514600" y="5843016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ICAI CA-Act monopoly limits agent autonomy AND creates CA-channel-as-distribution opportunity</a:t>
            </a:r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823960" y="584301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Regulator</a:t>
            </a:r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502920" y="6099048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920" y="609904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[C6:synthesis]</a:t>
            </a:r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417320" y="6099048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514600" y="6099048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H6 hybrid path emerges from cross-persona breakthrough convergence in iteration 2</a:t>
            </a:r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823960" y="6099048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synthesis</a:t>
            </a:r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502920" y="6355080"/>
            <a:ext cx="103327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Sources table</a:t>
            </a:r>
            <a:endParaRPr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